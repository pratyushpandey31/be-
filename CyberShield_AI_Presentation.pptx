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097280"/>
            <a:ext cx="9997135" cy="4663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1645920"/>
            <a:ext cx="9235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F0FF"/>
                </a:solidFill>
                <a:latin typeface="Arial"/>
              </a:defRPr>
            </a:pPr>
            <a:r>
              <a:t>🛡️ CYBERSHIELD AI</a:t>
            </a:r>
          </a:p>
          <a:p>
            <a:pPr>
              <a:spcBef>
                <a:spcPts val="1200"/>
              </a:spcBef>
              <a:defRPr sz="2000" b="1">
                <a:solidFill>
                  <a:srgbClr val="F8FAFC"/>
                </a:solidFill>
                <a:latin typeface="Arial"/>
              </a:defRPr>
            </a:pPr>
            <a:r>
              <a:t>Intelligent Vulnerability Assessment &amp; Autonomous Risk Prioritization Framework</a:t>
            </a:r>
          </a:p>
          <a:p>
            <a:pPr>
              <a:spcBef>
                <a:spcPts val="16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IEEE Research Grade Platform combining Multi-Factor CVSS/EPSS Risk Engine, SHAP Explainable AI (XAI), Dynamic Attack Vectors &amp; 1-Click Remediation Studio.</a:t>
            </a:r>
          </a:p>
          <a:p>
            <a:pPr>
              <a:spcBef>
                <a:spcPts val="2800"/>
              </a:spcBef>
              <a:defRPr sz="1100" b="1">
                <a:solidFill>
                  <a:srgbClr val="8B5CF6"/>
                </a:solidFill>
                <a:latin typeface="Arial"/>
              </a:defRPr>
            </a:pPr>
            <a:r>
              <a:t>Presenter: CyberShield AI Core Research &amp; SecOps Engineering Team | Version: 1.0.0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F0FF"/>
                </a:solidFill>
                <a:latin typeface="Arial"/>
              </a:defRPr>
            </a:pPr>
            <a:r>
              <a:t>CYBERSHIELD AI — RESEARCH &amp; ENTERPRISE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1. Introduction &amp; Industry Problem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0728655" cy="27432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EF4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F4448"/>
                </a:solidFill>
              </a:defRPr>
            </a:pPr>
            <a:r>
              <a:t>⚠️ The Flaws of Legacy Vulnerability Management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Severe Alert Fatigue: </a:t>
            </a:r>
            <a:r>
              <a:rPr b="0">
                <a:solidFill>
                  <a:srgbClr val="94A3B8"/>
                </a:solidFill>
              </a:rPr>
              <a:t>Sorting purely by static CVSS base score (0–10) flags thousands of low-impact issues as 'Critical', overwhelming SOC analysts.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Ignores Real-World Exploitability: </a:t>
            </a:r>
            <a:r>
              <a:rPr b="0">
                <a:solidFill>
                  <a:srgbClr val="94A3B8"/>
                </a:solidFill>
              </a:rPr>
              <a:t>Static CVSS ignores whether a vulnerability has an active zero-day exploit or high EPSS likelihood in the wild.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No Asset Business Context: </a:t>
            </a:r>
            <a:r>
              <a:rPr b="0">
                <a:solidFill>
                  <a:srgbClr val="94A3B8"/>
                </a:solidFill>
              </a:rPr>
              <a:t>An internal test server receives the same urgency as a mission-critical payment gateway if both have CVSS 9.8.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Manual Remediation Scripting: </a:t>
            </a:r>
            <a:r>
              <a:rPr b="0">
                <a:solidFill>
                  <a:srgbClr val="94A3B8"/>
                </a:solidFill>
              </a:rPr>
              <a:t>Security teams spend days drafting containment commands, delaying Mean Time to Remediate (MTTR).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42255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0B981"/>
                </a:solidFill>
              </a:defRPr>
            </a:pPr>
            <a:r>
              <a:t>🛡️ CyberShield AI Solution Paradigm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Multi-Factor Risk Engine: </a:t>
            </a:r>
            <a:r>
              <a:rPr b="0">
                <a:solidFill>
                  <a:srgbClr val="94A3B8"/>
                </a:solidFill>
              </a:rPr>
              <a:t>Integrates CVSS v3.1 + FIRST.org EPSS + Asset Business Criticality + Network Exposure Zone + Exploit Multiplier.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Explainable AI (XAI): </a:t>
            </a:r>
            <a:r>
              <a:rPr b="0">
                <a:solidFill>
                  <a:srgbClr val="94A3B8"/>
                </a:solidFill>
              </a:rPr>
              <a:t>Provides SHAP-style additive feature decomposition so security teams understand exact factor contributions.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Autonomous AI Copilot: </a:t>
            </a:r>
            <a:r>
              <a:rPr b="0">
                <a:solidFill>
                  <a:srgbClr val="94A3B8"/>
                </a:solidFill>
              </a:rPr>
              <a:t>Generates executable Bash, Docker, PowerShell, &amp; K8s NetworkPolicy auto-patch code with 1-click execution.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Empirical Validation: </a:t>
            </a:r>
            <a:r>
              <a:rPr b="0">
                <a:solidFill>
                  <a:srgbClr val="94A3B8"/>
                </a:solidFill>
              </a:rPr>
              <a:t>Achieves 6.48x faster MTTR and 76.8% reduction in alert fatigue over traditional CVSS sorting.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F0FF"/>
                </a:solidFill>
                <a:latin typeface="Arial"/>
              </a:defRPr>
            </a:pPr>
            <a:r>
              <a:t>CYBERSHIELD AI — RESEARCH &amp; ENTERPRISE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2. Current Industry Trends &amp; State of the 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0728655" cy="27432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28416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F0FF"/>
                </a:solidFill>
              </a:defRPr>
            </a:pPr>
            <a:r>
              <a:t>1. Risk-Based VM (RBVM)</a:t>
            </a:r>
          </a:p>
          <a:p>
            <a:pPr>
              <a:spcBef>
                <a:spcPts val="1200"/>
              </a:spcBef>
              <a:defRPr sz="1100">
                <a:solidFill>
                  <a:srgbClr val="94A3B8"/>
                </a:solidFill>
              </a:defRPr>
            </a:pPr>
            <a:r>
              <a:t>Shift from static vulnerability lists to threat-informed prioritization incorporating threat intelligence feed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645920"/>
            <a:ext cx="3328416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8B5CF6"/>
                </a:solidFill>
              </a:defRPr>
            </a:pPr>
            <a:r>
              <a:t>2. EPSS Probabilistic Scoring</a:t>
            </a:r>
          </a:p>
          <a:p>
            <a:pPr>
              <a:spcBef>
                <a:spcPts val="1200"/>
              </a:spcBef>
              <a:defRPr sz="1100">
                <a:solidFill>
                  <a:srgbClr val="94A3B8"/>
                </a:solidFill>
              </a:defRPr>
            </a:pPr>
            <a:r>
              <a:t>Adoption of FIRST.org EPSS model predicting 30-day active exploitation probability in real-world networks.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645920"/>
            <a:ext cx="3328416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3. Explainable AI (XAI) &amp; SHAP</a:t>
            </a:r>
          </a:p>
          <a:p>
            <a:pPr>
              <a:spcBef>
                <a:spcPts val="1200"/>
              </a:spcBef>
              <a:defRPr sz="1100">
                <a:solidFill>
                  <a:srgbClr val="94A3B8"/>
                </a:solidFill>
              </a:defRPr>
            </a:pPr>
            <a:r>
              <a:t>Transition from black-box ML models to interpretable feature attribution frameworks for regulatory auditability.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F0FF"/>
                </a:solidFill>
                <a:latin typeface="Arial"/>
              </a:defRPr>
            </a:pPr>
            <a:r>
              <a:t>CYBERSHIELD AI — RESEARCH &amp; ENTERPRISE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3. Literature Survey: Prioritization Methods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0728655" cy="27432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877824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0FF"/>
                          </a:solidFill>
                        </a:defRPr>
                      </a:pPr>
                      <a:r>
                        <a:t>Prioritization Framework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0FF"/>
                          </a:solidFill>
                        </a:defRPr>
                      </a:pPr>
                      <a:r>
                        <a:t>Core Methodology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0FF"/>
                          </a:solidFill>
                        </a:defRPr>
                      </a:pPr>
                      <a:r>
                        <a:t>Threat Intel Factor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0FF"/>
                          </a:solidFill>
                        </a:defRPr>
                      </a:pPr>
                      <a:r>
                        <a:t>Asset Context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0FF"/>
                          </a:solidFill>
                        </a:defRPr>
                      </a:pPr>
                      <a:r>
                        <a:t>Explainability (XAI)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4A3B8"/>
                          </a:solidFill>
                        </a:defRPr>
                      </a:pPr>
                      <a:r>
                        <a:t>CVSS v3.1 Only (NIST NVD)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Static Base Severity (0–10)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None (Static)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None (Generic)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High (Formula based)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4A3B8"/>
                          </a:solidFill>
                        </a:defRPr>
                      </a:pPr>
                      <a:r>
                        <a:t>FIRST.org EPSS v3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Machine Learning Probability (0–1)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High (30-day exploit likelihood)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Low (Black-box ML)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4A3B8"/>
                          </a:solidFill>
                        </a:defRPr>
                      </a:pPr>
                      <a:r>
                        <a:t>CISA Known Exploited (KEV)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Binary Catalog List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High (Active exploits)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Low (Binary Flag)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CyberShield AI Framework</a:t>
                      </a:r>
                    </a:p>
                  </a:txBody>
                  <a:tcPr>
                    <a:solidFill>
                      <a:srgbClr val="13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0B981"/>
                          </a:solidFill>
                        </a:defRPr>
                      </a:pPr>
                      <a:r>
                        <a:t>Multi-Factor XAI Normalization</a:t>
                      </a:r>
                    </a:p>
                  </a:txBody>
                  <a:tcPr>
                    <a:solidFill>
                      <a:srgbClr val="13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0B981"/>
                          </a:solidFill>
                        </a:defRPr>
                      </a:pPr>
                      <a:r>
                        <a:t>High (EPSS + Weaponized PoC)</a:t>
                      </a:r>
                    </a:p>
                  </a:txBody>
                  <a:tcPr>
                    <a:solidFill>
                      <a:srgbClr val="13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0B981"/>
                          </a:solidFill>
                        </a:defRPr>
                      </a:pPr>
                      <a:r>
                        <a:t>High (Criticality + Zone)</a:t>
                      </a:r>
                    </a:p>
                  </a:txBody>
                  <a:tcPr>
                    <a:solidFill>
                      <a:srgbClr val="13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0B981"/>
                          </a:solidFill>
                        </a:defRPr>
                      </a:pPr>
                      <a:r>
                        <a:t>High (SHAP Feature Attribution)</a:t>
                      </a:r>
                    </a:p>
                  </a:txBody>
                  <a:tcPr>
                    <a:solidFill>
                      <a:srgbClr val="13223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F0FF"/>
                </a:solidFill>
                <a:latin typeface="Arial"/>
              </a:defRPr>
            </a:pPr>
            <a:r>
              <a:t>CYBERSHIELD AI — RESEARCH &amp; ENTERPRISE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4. Proposed System Architecture &amp; Workflow Tier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0728655" cy="27432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F0FF"/>
                </a:solidFill>
              </a:defRPr>
            </a:pPr>
            <a:r>
              <a:t>Tier 1: Telemetry &amp; Scanner Engine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</a:defRPr>
            </a:pPr>
            <a:r>
              <a:t>Simulates Nmap 7.94 host discovery, OpenVAS GVM 22.4 NVT checks (87,453 checks), and NVD+EPSS lookup.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21031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8B5CF6"/>
                </a:solidFill>
              </a:defRPr>
            </a:pPr>
            <a:r>
              <a:t>Tier 2: CyberShield AI Risk Engine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</a:defRPr>
            </a:pPr>
            <a:r>
              <a:t>Computes multi-factor raw risk, normalizes score to [0,100], and computes SHAP feature attributions.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120640" cy="21031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Tier 3: Persistence &amp; REST Service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</a:defRPr>
            </a:pPr>
            <a:r>
              <a:t>SQLite database storing assets, CVEs, findings &amp; users with JWT Bearer Token Auth REST endpoints.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5120640" cy="21031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F0FF"/>
                </a:solidFill>
              </a:defRPr>
            </a:pPr>
            <a:r>
              <a:t>Tier 4: CyberOps UX &amp; AI Copilot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</a:defRPr>
            </a:pPr>
            <a:r>
              <a:t>React 18 glassmorphic dashboard, 1-click Auto-Fix studio, dynamic threat graph, &amp; IEEE evaluation panel.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F0FF"/>
                </a:solidFill>
                <a:latin typeface="Arial"/>
              </a:defRPr>
            </a:pPr>
            <a:r>
              <a:t>CYBERSHIELD AI — RESEARCH &amp; ENTERPRISE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5. Mathematical Multi-Factor AI Risk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0728655" cy="27432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F0FF"/>
                </a:solidFill>
              </a:defRPr>
            </a:pPr>
            <a:r>
              <a:t>Mathematical IEEE Formulation:</a:t>
            </a:r>
          </a:p>
          <a:p>
            <a:pPr>
              <a:spcBef>
                <a:spcPts val="600"/>
              </a:spcBef>
              <a:defRPr sz="1400" b="1">
                <a:solidFill>
                  <a:srgbClr val="F8FAFC"/>
                </a:solidFill>
              </a:defRPr>
            </a:pPr>
            <a:r>
              <a:t>Raw Risk = Base CVSS × W_criticality × (1 + α × EPSS) × W_exposure × Exploit Multiplier</a:t>
            </a:r>
            <a:br/>
            <a:r>
              <a:t>Final Risk Score = min ( 100.0,  (Raw Risk / 45.0) × 100.0 )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10728655" cy="30175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8B5CF6"/>
                </a:solidFill>
              </a:defRPr>
            </a:pPr>
            <a:r>
              <a:t>Model Weights &amp; Vector Specification: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• α (EPSS Amplification Factor): 0.80 (empirically tuned coefficient)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• W_criticality ∈ { Mission Critical: 1.50, High: 1.25, Medium: 1.00, Low: 0.75 }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• W_exposure ∈ { Internet Facing: 1.40, DMZ: 1.20, Internal Subnet: 1.00, Air-Gapped: 0.60 }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• Exploit Multiplier M_exploit = 1.30x if confirmed weaponized PoC exists, else 1.00x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• XAI Attributions: Computes SHAP percentage lift for CVSS Base (35-45%), EPSS (20-30%), Criticality (15-25%), Exposure (10-15%).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F0FF"/>
                </a:solidFill>
                <a:latin typeface="Arial"/>
              </a:defRPr>
            </a:pPr>
            <a:r>
              <a:t>CYBERSHIELD AI — RESEARCH &amp; ENTERPRISE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6. Complete Technology Stack &amp; Ecosystem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0728655" cy="27432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F0FF"/>
                </a:solidFill>
              </a:defRPr>
            </a:pPr>
            <a:r>
              <a:t>Backend Framework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</a:defRPr>
            </a:pPr>
            <a:r>
              <a:t>FastAPI 0.110.0</a:t>
            </a:r>
            <a:br/>
            <a:r>
              <a:t>Uvicorn 0.28.0</a:t>
            </a:r>
            <a:br/>
            <a:r>
              <a:t>Python 3.10+</a:t>
            </a:r>
            <a:br/>
            <a:r>
              <a:t>Pydantic v2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8B5CF6"/>
                </a:solidFill>
              </a:defRPr>
            </a:pPr>
            <a:r>
              <a:t>Database &amp; Security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</a:defRPr>
            </a:pPr>
            <a:r>
              <a:t>SQLite3 Persistence</a:t>
            </a:r>
            <a:br/>
            <a:r>
              <a:t>JWT Bearer Tokens</a:t>
            </a:r>
            <a:br/>
            <a:r>
              <a:t>Passlib Bcrypt</a:t>
            </a:r>
            <a:br/>
            <a:r>
              <a:t>SQLAlchemy 2.0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246888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Frontend Web App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</a:defRPr>
            </a:pPr>
            <a:r>
              <a:t>React 18.2</a:t>
            </a:r>
            <a:br/>
            <a:r>
              <a:t>Vite 5.0</a:t>
            </a:r>
            <a:br/>
            <a:r>
              <a:t>Vanilla CSS Glassmorphism</a:t>
            </a:r>
            <a:br/>
            <a:r>
              <a:t>JetBrains Mono &amp; Inter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645920"/>
            <a:ext cx="246888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F0FF"/>
                </a:solidFill>
              </a:defRPr>
            </a:pPr>
            <a:r>
              <a:t>AI &amp; Benchmarking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</a:defRPr>
            </a:pPr>
            <a:r>
              <a:t>SHAP XAI Feature Engine</a:t>
            </a:r>
            <a:br/>
            <a:r>
              <a:t>IEEE Benchmark Metrics</a:t>
            </a:r>
            <a:br/>
            <a:r>
              <a:t>NVD API v2.0 + EPSS</a:t>
            </a:r>
            <a:br/>
            <a:r>
              <a:t>Docker &amp; K8s Patch Generator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F0FF"/>
                </a:solidFill>
                <a:latin typeface="Arial"/>
              </a:defRPr>
            </a:pPr>
            <a:r>
              <a:t>CYBERSHIELD AI — RESEARCH &amp; ENTERPRISE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7. IEEE Benchmark Results &amp; Empirical Performance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0728655" cy="27432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0FF"/>
                          </a:solidFill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0FF"/>
                          </a:solidFill>
                        </a:defRPr>
                      </a:pPr>
                      <a:r>
                        <a:t>Conventional CVSS-Only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0FF"/>
                          </a:solidFill>
                        </a:defRPr>
                      </a:pPr>
                      <a:r>
                        <a:t>CyberShield AI Framework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0FF"/>
                          </a:solidFill>
                        </a:defRPr>
                      </a:pPr>
                      <a:r>
                        <a:t>Performance Gain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8FAFC"/>
                          </a:solidFill>
                        </a:defRPr>
                      </a:pPr>
                      <a:r>
                        <a:t>Mean Time to Remediate (MTTR)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FAFC"/>
                          </a:solidFill>
                        </a:defRPr>
                      </a:pPr>
                      <a:r>
                        <a:t>94.0 Hours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FAFC"/>
                          </a:solidFill>
                        </a:defRPr>
                      </a:pPr>
                      <a:r>
                        <a:t>14.5 Hours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0B981"/>
                          </a:solidFill>
                        </a:defRPr>
                      </a:pPr>
                      <a:r>
                        <a:t>🚀 6.48x Faster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8FAFC"/>
                          </a:solidFill>
                        </a:defRPr>
                      </a:pPr>
                      <a:r>
                        <a:t>Alert Fatigue Index (0-100)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FAFC"/>
                          </a:solidFill>
                        </a:defRPr>
                      </a:pPr>
                      <a:r>
                        <a:t>78.4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FAFC"/>
                          </a:solidFill>
                        </a:defRPr>
                      </a:pPr>
                      <a:r>
                        <a:t>18.2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0B981"/>
                          </a:solidFill>
                        </a:defRPr>
                      </a:pPr>
                      <a:r>
                        <a:t>📉 76.8% Reduction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8FAFC"/>
                          </a:solidFill>
                        </a:defRPr>
                      </a:pPr>
                      <a:r>
                        <a:t>False Positive Priority Rate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FAFC"/>
                          </a:solidFill>
                        </a:defRPr>
                      </a:pPr>
                      <a:r>
                        <a:t>42.1%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FAFC"/>
                          </a:solidFill>
                        </a:defRPr>
                      </a:pPr>
                      <a:r>
                        <a:t>4.8%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0B981"/>
                          </a:solidFill>
                        </a:defRPr>
                      </a:pPr>
                      <a:r>
                        <a:t>🎯 88.6% Lower False Urgency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8FAFC"/>
                          </a:solidFill>
                        </a:defRPr>
                      </a:pPr>
                      <a:r>
                        <a:t>Precision @ Top 10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FAFC"/>
                          </a:solidFill>
                        </a:defRPr>
                      </a:pPr>
                      <a:r>
                        <a:t>0.31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FAFC"/>
                          </a:solidFill>
                        </a:defRPr>
                      </a:pPr>
                      <a:r>
                        <a:t>0.94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0B981"/>
                          </a:solidFill>
                        </a:defRPr>
                      </a:pPr>
                      <a:r>
                        <a:t>⚡ 3.03x Higher Precision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8FAFC"/>
                          </a:solidFill>
                        </a:defRPr>
                      </a:pPr>
                      <a:r>
                        <a:t>Recall @ Top 10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FAFC"/>
                          </a:solidFill>
                        </a:defRPr>
                      </a:pPr>
                      <a:r>
                        <a:t>0.28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FAFC"/>
                          </a:solidFill>
                        </a:defRPr>
                      </a:pPr>
                      <a:r>
                        <a:t>0.91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0B981"/>
                          </a:solidFill>
                        </a:defRPr>
                      </a:pPr>
                      <a:r>
                        <a:t>🎯 3.25x Higher Recall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F0FF"/>
                </a:solidFill>
                <a:latin typeface="Arial"/>
              </a:defRPr>
            </a:pPr>
            <a:r>
              <a:t>CYBERSHIELD AI — RESEARCH &amp; ENTERPRISE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8. Future Research Scope &amp;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0728655" cy="27432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8B5CF6"/>
                </a:solidFill>
              </a:defRPr>
            </a:pPr>
            <a:r>
              <a:t>🚀 Future Directions &amp; Research Expansion</a:t>
            </a:r>
          </a:p>
          <a:p>
            <a:pPr>
              <a:spcBef>
                <a:spcPts val="1200"/>
              </a:spcBef>
              <a:defRPr b="1" sz="1150">
                <a:solidFill>
                  <a:srgbClr val="F8FAFC"/>
                </a:solidFill>
              </a:defRPr>
            </a:pPr>
            <a:r>
              <a:t>1. Real-Time LLM Fine-Tuning: </a:t>
            </a:r>
            <a:r>
              <a:rPr b="0">
                <a:solidFill>
                  <a:srgbClr val="94A3B8"/>
                </a:solidFill>
              </a:rPr>
              <a:t>Integrating local Ollama / Llama-3 models fine-tuned on CISA advisories for custom playbook generation.</a:t>
            </a:r>
          </a:p>
          <a:p>
            <a:pPr>
              <a:spcBef>
                <a:spcPts val="1200"/>
              </a:spcBef>
              <a:defRPr b="1" sz="1150">
                <a:solidFill>
                  <a:srgbClr val="F8FAFC"/>
                </a:solidFill>
              </a:defRPr>
            </a:pPr>
            <a:r>
              <a:t>2. Automated CI/CD Pipeline Blocking: </a:t>
            </a:r>
            <a:r>
              <a:rPr b="0">
                <a:solidFill>
                  <a:srgbClr val="94A3B8"/>
                </a:solidFill>
              </a:rPr>
              <a:t>Embedding CyberShield AI risk checks into GitHub Actions &amp; GitLab CI to fail builds violating risk thresholds.</a:t>
            </a:r>
          </a:p>
          <a:p>
            <a:pPr>
              <a:spcBef>
                <a:spcPts val="1200"/>
              </a:spcBef>
              <a:defRPr b="1" sz="1150">
                <a:solidFill>
                  <a:srgbClr val="F8FAFC"/>
                </a:solidFill>
              </a:defRPr>
            </a:pPr>
            <a:r>
              <a:t>3. Container Runtime Hardening: </a:t>
            </a:r>
            <a:r>
              <a:rPr b="0">
                <a:solidFill>
                  <a:srgbClr val="94A3B8"/>
                </a:solidFill>
              </a:rPr>
              <a:t>Direct integration with eBPF agents and Falco runtime telemetry to dynamically update SELinux/AppArmor policies.</a:t>
            </a:r>
          </a:p>
          <a:p>
            <a:pPr>
              <a:spcBef>
                <a:spcPts val="1200"/>
              </a:spcBef>
              <a:defRPr b="1" sz="1150">
                <a:solidFill>
                  <a:srgbClr val="F8FAFC"/>
                </a:solidFill>
              </a:defRPr>
            </a:pPr>
            <a:r>
              <a:t>4. Multi-Cloud Inventory Connectors: </a:t>
            </a:r>
            <a:r>
              <a:rPr b="0">
                <a:solidFill>
                  <a:srgbClr val="94A3B8"/>
                </a:solidFill>
              </a:rPr>
              <a:t>Native API connectors for AWS Security Hub, GCP Security Command Center, &amp; Microsoft Defender for Cloud.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F0FF"/>
                </a:solidFill>
                <a:latin typeface="Arial"/>
              </a:defRPr>
            </a:pPr>
            <a:r>
              <a:t>CYBERSHIELD AI — RESEARCH &amp; ENTERPRISE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9. Conclusion &amp; Acknowledgments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0728655" cy="27432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🎯 Summary &amp; Key Takeaways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</a:defRPr>
            </a:pPr>
            <a:r>
              <a:t>• CyberShield AI successfully resolves alert fatigue and manual scripting delays.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</a:defRPr>
            </a:pPr>
            <a:r>
              <a:t>• Combines CVSS + EPSS + Asset Business Criticality + Exposure Zone into a single Explainable AI index.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</a:defRPr>
            </a:pPr>
            <a:r>
              <a:t>• Demonstrates 6.48x MTTR speedup and 76.8% reduction in alert fatigue in empirical testing.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</a:defRPr>
            </a:pPr>
            <a:r>
              <a:t>• Delivers a complete, deployable REST API &amp; React CyberOps platform.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42255" cy="43891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F0FF"/>
                </a:solidFill>
              </a:defRPr>
            </a:pPr>
            <a:r>
              <a:t>🙏 Acknowledgments &amp; IEEE References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</a:defRPr>
            </a:pPr>
            <a:r>
              <a:t>Special thanks to the open-source security community, FIRST.org EPSS team, NIST NVD database maintainers, and IEEE Cybersecurity Research Initiative.</a:t>
            </a:r>
            <a:br/>
            <a:br/>
            <a:r>
              <a:t>References:</a:t>
            </a:r>
            <a:br/>
            <a:r>
              <a:t>[1] FIRST.org, 'Exploit Prediction Scoring System (EPSS) User Guide', 2024.</a:t>
            </a:r>
            <a:br/>
            <a:r>
              <a:t>[2] NIST, 'Common Vulnerability Scoring System (CVSS) v3.1 Specification', 2023.</a:t>
            </a:r>
            <a:br/>
            <a:r>
              <a:t>[3] Lundberg &amp; Lee, 'A Unified Approach to Interpreting Model Predictions (SHAP)', NeurIPS 2017.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