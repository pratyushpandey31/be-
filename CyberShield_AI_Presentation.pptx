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"/>
            <a:ext cx="8778240" cy="150876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1664208"/>
            <a:ext cx="9144000" cy="320040"/>
          </a:xfrm>
          <a:prstGeom prst="rect">
            <a:avLst/>
          </a:prstGeom>
          <a:solidFill>
            <a:srgbClr val="0E3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DEPARTMENT OF COMPUTER SCIENCE &amp; ENGINEERING (CYBER SECURITY)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29968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D95307"/>
                </a:solidFill>
                <a:latin typeface="Calibri"/>
              </a:defRPr>
            </a:pPr>
            <a:r>
              <a:t>Semester Review Presentation  |  BE Project-I Presentation (A.Y. 2026-27 Odd)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395728"/>
            <a:ext cx="8046720" cy="2148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E38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0E387A"/>
                </a:solidFill>
                <a:latin typeface="Calibri"/>
              </a:defRPr>
            </a:pPr>
            <a:r>
              <a:t>CyberShield AI</a:t>
            </a:r>
          </a:p>
          <a:p>
            <a:pPr algn="ctr">
              <a:spcBef>
                <a:spcPts val="400"/>
              </a:spcBef>
              <a:defRPr sz="1400" b="1">
                <a:solidFill>
                  <a:srgbClr val="000000"/>
                </a:solidFill>
                <a:latin typeface="Calibri"/>
              </a:defRPr>
            </a:pPr>
            <a:r>
              <a:t>An Intelligent Vulnerability Assessment &amp; Autonomous Risk Prioritization Framework Using Explainable AI</a:t>
            </a:r>
          </a:p>
          <a:p>
            <a:pPr algn="ctr">
              <a:spcBef>
                <a:spcPts val="400"/>
              </a:spcBef>
              <a:defRPr sz="1100">
                <a:solidFill>
                  <a:srgbClr val="0F172A"/>
                </a:solidFill>
                <a:latin typeface="Calibri"/>
              </a:defRPr>
            </a:pPr>
            <a:r>
              <a:t>Multi-Factor Scoring (CVSS + EPSS + Asset Criticality + Exposure) | SHAP XAI | 1-Click Auto-Remediation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681728"/>
            <a:ext cx="3886200" cy="17556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38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1">
                <a:solidFill>
                  <a:srgbClr val="0E387A"/>
                </a:solidFill>
                <a:latin typeface="Calibri"/>
              </a:defRPr>
            </a:pPr>
            <a:r>
              <a:t>Presented By: (Group 3)</a:t>
            </a:r>
          </a:p>
          <a:p>
            <a:pPr>
              <a:spcAft>
                <a:spcPts val="250"/>
              </a:spcAft>
              <a:defRPr sz="1100" b="1">
                <a:solidFill>
                  <a:srgbClr val="000000"/>
                </a:solidFill>
                <a:latin typeface="Calibri"/>
              </a:defRPr>
            </a:pPr>
            <a:r>
              <a:t>1. Pratyush Pandey (Roll No. 34 / 1032230135)</a:t>
            </a:r>
          </a:p>
          <a:p>
            <a:pPr>
              <a:spcAft>
                <a:spcPts val="250"/>
              </a:spcAft>
              <a:defRPr sz="1100" b="1">
                <a:solidFill>
                  <a:srgbClr val="000000"/>
                </a:solidFill>
                <a:latin typeface="Calibri"/>
              </a:defRPr>
            </a:pPr>
            <a:r>
              <a:t>2. Neev Jain (Roll No. 31 / 1032230132)</a:t>
            </a:r>
          </a:p>
          <a:p>
            <a:pPr>
              <a:spcAft>
                <a:spcPts val="250"/>
              </a:spcAft>
              <a:defRPr sz="1100" b="1">
                <a:solidFill>
                  <a:srgbClr val="000000"/>
                </a:solidFill>
                <a:latin typeface="Calibri"/>
              </a:defRPr>
            </a:pPr>
            <a:r>
              <a:t>3. Ankush Sahu (Roll No. 45 / 1032230146)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9160" y="4681728"/>
            <a:ext cx="3886200" cy="17556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53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  <a:defRPr sz="1300" b="1">
                <a:solidFill>
                  <a:srgbClr val="D95307"/>
                </a:solidFill>
                <a:latin typeface="Calibri"/>
              </a:defRPr>
            </a:pPr>
            <a:r>
              <a:t>Project Guide:</a:t>
            </a:r>
          </a:p>
          <a:p>
            <a:pPr>
              <a:defRPr sz="1350" b="1">
                <a:solidFill>
                  <a:srgbClr val="0E387A"/>
                </a:solidFill>
                <a:latin typeface="Calibri"/>
              </a:defRPr>
            </a:pPr>
            <a:r>
              <a:t>Prof. Pramod Patil</a:t>
            </a:r>
          </a:p>
          <a:p>
            <a:pPr>
              <a:spcBef>
                <a:spcPts val="200"/>
              </a:spcBef>
              <a:defRPr sz="1050" b="1">
                <a:solidFill>
                  <a:srgbClr val="000000"/>
                </a:solidFill>
                <a:latin typeface="Calibri"/>
              </a:defRPr>
            </a:pPr>
            <a:r>
              <a:t>Assistant Professor - Department of CSE</a:t>
            </a:r>
            <a:br/>
            <a:r>
              <a:t>Thakur College of Engineering &amp; Technology, Mumbai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9144000" cy="36576"/>
          </a:xfrm>
          <a:prstGeom prst="rect">
            <a:avLst/>
          </a:prstGeom>
          <a:solidFill>
            <a:srgbClr val="D953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"/>
            <a:ext cx="822960" cy="685800"/>
          </a:xfrm>
          <a:prstGeom prst="rect">
            <a:avLst/>
          </a:prstGeom>
        </p:spPr>
      </p:pic>
      <p:pic>
        <p:nvPicPr>
          <p:cNvPr id="3" name="Picture 2" descr="Picture 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37160"/>
            <a:ext cx="82296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88720" y="13716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0E387A"/>
                </a:solidFill>
                <a:latin typeface="Calibri"/>
              </a:defRPr>
            </a:pPr>
            <a:r>
              <a:t>Outline of Presentation</a:t>
            </a:r>
          </a:p>
          <a:p>
            <a:pPr algn="ctr">
              <a:defRPr sz="900">
                <a:solidFill>
                  <a:srgbClr val="475569"/>
                </a:solidFill>
                <a:latin typeface="Calibri"/>
              </a:defRPr>
            </a:pPr>
            <a:r>
              <a:t>CyberShield AI  |  BE Project-I (Odd 2026-27)  |  TCET Mumbai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9144000" cy="27432"/>
          </a:xfrm>
          <a:prstGeom prst="rect">
            <a:avLst/>
          </a:prstGeom>
          <a:solidFill>
            <a:srgbClr val="0E3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9144000" cy="27432"/>
          </a:xfrm>
          <a:prstGeom prst="rect">
            <a:avLst/>
          </a:prstGeom>
          <a:solidFill>
            <a:srgbClr val="D953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Calibri"/>
              </a:defRPr>
            </a:pPr>
            <a:r>
              <a:t>Department of Computer Science and Engineering (Cyber Security) | TCET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35508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E387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804672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E38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252728"/>
            <a:ext cx="777240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E387A"/>
                </a:solidFill>
                <a:latin typeface="Calibri"/>
              </a:defRPr>
            </a:pPr>
            <a:r>
              <a:t>Table of Contents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1. Problem Statement &amp; Motivation: The CVE avalanche, CVSS inflation, context blindness, and alert fatigue.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2. Project Objectives &amp; Scope: Unified multi-factor scoring, threat intelligence fusion, and 1-click auto-fix.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3. Literature Survey &amp; State of the Art: Comparative analysis: Legacy CVSS vs EPSS v3 vs KEV vs CyberShield AI.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4. Proposed System Architecture: 4-Tier centralized model (Telemetry, AI Engine, Persistence, React 18 UX).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5. Mathematical Risk Scoring Formulation: Non-linear composite equation, parameter weights, and normalization.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6. Explainable AI (XAI) &amp; SHAP Attribution: Additive feature lift decomposition and 6-axis SVG Radar Risk Profile.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7. Entity Relationship &amp; Data Model: SQLite3 / PostgreSQL schema and transaction management.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8. Scanner Pipeline &amp; Modules: 6-Stage discovery workflow, Threat Ingestion, and AI Cyber Copilot.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9. Case Study &amp; Empirical Results: 3 Real-world attack scenarios, 6.48× MTTR speedup, 76.8% alert fatigue cut.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10. Future Scope &amp; Conclusion: Local LLaMA-3, container eBPF shielding, CI/CD DevSecOps gating, and summary.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"/>
            <a:ext cx="822960" cy="685800"/>
          </a:xfrm>
          <a:prstGeom prst="rect">
            <a:avLst/>
          </a:prstGeom>
        </p:spPr>
      </p:pic>
      <p:pic>
        <p:nvPicPr>
          <p:cNvPr id="3" name="Picture 2" descr="Picture 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37160"/>
            <a:ext cx="82296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88720" y="13716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0E387A"/>
                </a:solidFill>
                <a:latin typeface="Calibri"/>
              </a:defRPr>
            </a:pPr>
            <a:r>
              <a:t>1. Problem Statement &amp; Motivation</a:t>
            </a:r>
          </a:p>
          <a:p>
            <a:pPr algn="ctr">
              <a:defRPr sz="900">
                <a:solidFill>
                  <a:srgbClr val="475569"/>
                </a:solidFill>
                <a:latin typeface="Calibri"/>
              </a:defRPr>
            </a:pPr>
            <a:r>
              <a:t>CyberShield AI  |  BE Project-I (Odd 2026-27)  |  TCET Mumbai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9144000" cy="27432"/>
          </a:xfrm>
          <a:prstGeom prst="rect">
            <a:avLst/>
          </a:prstGeom>
          <a:solidFill>
            <a:srgbClr val="0E3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9144000" cy="27432"/>
          </a:xfrm>
          <a:prstGeom prst="rect">
            <a:avLst/>
          </a:prstGeom>
          <a:solidFill>
            <a:srgbClr val="D953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Calibri"/>
              </a:defRPr>
            </a:pPr>
            <a:r>
              <a:t>Department of Computer Science and Engineering (Cyber Security) | TCET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35508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E387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256032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252728"/>
            <a:ext cx="228600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11D48"/>
                </a:solidFill>
                <a:latin typeface="Calibri"/>
              </a:defRPr>
            </a:pPr>
            <a:r>
              <a:t>The CVE Avalanche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Over 25,000+ new CVEs logged annually by NIST NVD.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Rapid enterprise digitization multiplies cloud, API, and microservice attack surfaces.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Over 20% of all vulnerabilities receive a CVSS score &gt;= 8.0 ('High' or 'Critical').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In reality, fewer than 4% of CVEs are ever weaponized in the wild.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143000"/>
            <a:ext cx="256032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953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252728"/>
            <a:ext cx="228600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D95307"/>
                </a:solidFill>
                <a:latin typeface="Calibri"/>
              </a:defRPr>
            </a:pPr>
            <a:r>
              <a:t>Systemic SOC Bottlenecks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1. CVSS Inflation: Pure technical severity ignores live threat activity.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2. Context Blindness: Generic scanners treat air-gapped lab nodes identically to public payment APIs.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3. Remediation Delay: Drafting custom firewall rules and shell patches takes 94+ hours (days to weeks).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4. Alert Fatigue: 78.4/100 noise index overwhelms SOC analysts.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1143000"/>
            <a:ext cx="256032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E38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1252728"/>
            <a:ext cx="228600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E387A"/>
                </a:solidFill>
                <a:latin typeface="Calibri"/>
              </a:defRPr>
            </a:pPr>
            <a:r>
              <a:t>The CyberShield AI Mission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Shift from static CVSS checklists to dynamic, asset-aware risk prioritization.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Integrate FIRST.org EPSS v3 machine-learned exploit probabilities in real time.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Explain scoring decisions via SHAP (Shapley Additive exPlanations) for court-admissible audit trails.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Deliver 1-click verified containment scripts.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"/>
            <a:ext cx="822960" cy="685800"/>
          </a:xfrm>
          <a:prstGeom prst="rect">
            <a:avLst/>
          </a:prstGeom>
        </p:spPr>
      </p:pic>
      <p:pic>
        <p:nvPicPr>
          <p:cNvPr id="3" name="Picture 2" descr="Picture 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37160"/>
            <a:ext cx="82296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88720" y="13716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0E387A"/>
                </a:solidFill>
                <a:latin typeface="Calibri"/>
              </a:defRPr>
            </a:pPr>
            <a:r>
              <a:t>2. Project Objectives &amp; Research Scope</a:t>
            </a:r>
          </a:p>
          <a:p>
            <a:pPr algn="ctr">
              <a:defRPr sz="900">
                <a:solidFill>
                  <a:srgbClr val="475569"/>
                </a:solidFill>
                <a:latin typeface="Calibri"/>
              </a:defRPr>
            </a:pPr>
            <a:r>
              <a:t>CyberShield AI  |  BE Project-I (Odd 2026-27)  |  TCET Mumbai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9144000" cy="27432"/>
          </a:xfrm>
          <a:prstGeom prst="rect">
            <a:avLst/>
          </a:prstGeom>
          <a:solidFill>
            <a:srgbClr val="0E3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9144000" cy="27432"/>
          </a:xfrm>
          <a:prstGeom prst="rect">
            <a:avLst/>
          </a:prstGeom>
          <a:solidFill>
            <a:srgbClr val="D953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Calibri"/>
              </a:defRPr>
            </a:pPr>
            <a:r>
              <a:t>Department of Computer Science and Engineering (Cyber Security) | TCET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35508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E387A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388620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E38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252728"/>
            <a:ext cx="3611880" cy="2157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E387A"/>
                </a:solidFill>
                <a:latin typeface="Calibri"/>
              </a:defRPr>
            </a:pPr>
            <a:r>
              <a:t>🎯 Primary Objectives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1. Real-Time Telemetry: Integrate Nmap 7.94 &amp; OpenVAS GVM 22.4 (87k NVTs) for automated network host &amp; service discovery.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2. Multi-Factor Risk Model: Formulate a composite index uniting CVSS v3.1, EPSS v3, Asset Criticality, and Exposure Reachability.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3. Explainable AI (XAI): Apply SHAP feature attribution to explain score lift factors transparently to SOC analysts.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1143000"/>
            <a:ext cx="388620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252728"/>
            <a:ext cx="3611880" cy="2157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0B981"/>
                </a:solidFill>
                <a:latin typeface="Calibri"/>
              </a:defRPr>
            </a:pPr>
            <a:r>
              <a:t>⚡ Operational Performance Targets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Speedup MTTR by &gt;6x (reduce from 94.0 hrs down to &lt;15.0 hrs).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Cut SOC Alert Fatigue by &gt;70% via intelligent priority filtering.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Achieve &gt;90% Precision@Top-10 and Recall@Top-10 on real CVEs.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Deliver Sub-20ms API risk evaluation latency.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703320"/>
            <a:ext cx="388620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953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813048"/>
            <a:ext cx="3611880" cy="2157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D95307"/>
                </a:solidFill>
                <a:latin typeface="Calibri"/>
              </a:defRPr>
            </a:pPr>
            <a:r>
              <a:t>🛡️ Autonomous Remediation Scope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Generate pre-validated 1-click remediation scripts (iptables, PowerShell, Docker rebuilds, WAF rules, K8s policies).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Interactive AI Cyber Copilot supporting natural language threat queries in English &amp; Hinglish.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Automated attack path graph visualization mapping lateral movement.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60" y="3703320"/>
            <a:ext cx="388620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0" y="3813048"/>
            <a:ext cx="3611880" cy="2157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7E22CE"/>
                </a:solidFill>
                <a:latin typeface="Calibri"/>
              </a:defRPr>
            </a:pPr>
            <a:r>
              <a:t>🔒 Security &amp; Zero-Trust Scope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Role-Based Access Control (SecOps Lead, CISO Auditor, SOC Analyst).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JWT cryptographic authentication with HMAC-SHA256 signatures.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Immutable SQLite / PostgreSQL audit ledger with Row Factory queries.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Asynchronous Server-Sent Events (SSE) log streaming.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"/>
            <a:ext cx="822960" cy="685800"/>
          </a:xfrm>
          <a:prstGeom prst="rect">
            <a:avLst/>
          </a:prstGeom>
        </p:spPr>
      </p:pic>
      <p:pic>
        <p:nvPicPr>
          <p:cNvPr id="3" name="Picture 2" descr="Picture 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37160"/>
            <a:ext cx="82296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88720" y="13716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0E387A"/>
                </a:solidFill>
                <a:latin typeface="Calibri"/>
              </a:defRPr>
            </a:pPr>
            <a:r>
              <a:t>3. Literature Survey &amp; Comparative Analysis</a:t>
            </a:r>
          </a:p>
          <a:p>
            <a:pPr algn="ctr">
              <a:defRPr sz="900">
                <a:solidFill>
                  <a:srgbClr val="475569"/>
                </a:solidFill>
                <a:latin typeface="Calibri"/>
              </a:defRPr>
            </a:pPr>
            <a:r>
              <a:t>CyberShield AI  |  BE Project-I (Odd 2026-27)  |  TCET Mumbai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9144000" cy="27432"/>
          </a:xfrm>
          <a:prstGeom prst="rect">
            <a:avLst/>
          </a:prstGeom>
          <a:solidFill>
            <a:srgbClr val="0E3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9144000" cy="27432"/>
          </a:xfrm>
          <a:prstGeom prst="rect">
            <a:avLst/>
          </a:prstGeom>
          <a:solidFill>
            <a:srgbClr val="D953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Calibri"/>
              </a:defRPr>
            </a:pPr>
            <a:r>
              <a:t>Department of Computer Science and Engineering (Cyber Security) | TCET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35508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E387A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804672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E38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252728"/>
            <a:ext cx="777240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E387A"/>
                </a:solidFill>
                <a:latin typeface="Calibri"/>
              </a:defRPr>
            </a:pPr>
            <a:r>
              <a:t>Comparative Analysis of Vulnerability Management Frameworks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Feature / Metric               Legacy CVSS (NIST)     FIRST EPSS v3          CISA KEV Catalog       CyberShield AI (Ours)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-------------------------------------------------------------------------------------------------------------------------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Scoring Basis                  Static Flaw Severity   30-Day Exploit Prob.   Binary Known Exploit   Multi-Factor Index [0–100]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Asset Business Context         ✗ None (Generic)       ✗ None                 ✗ None                 ✓ Criticality (W_crit Multiplier)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Network Reachability           ✗ Generic              ✗ Generic              ✗ Generic              ✓ Exposure Zones (W_exp)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Threat Feeds Integration       ✗ Static Vector        ✓ Machine Learned      ✓ Curated List         ✓ Real-Time REST API Fusion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Explainability (XAI)           − Static Vector String ✗ Black-Box Model      ✗ Binary Indicator     ✓ SHAP Feature Lift Attribution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Remediation Mode               Manual (Days)          Manual Playbooks       Manual Patching        ✓ Autonomous 1-Click Auto-Fix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Mean Latency (MTTR)            94.0 Hours             42.0 Hours             38.5 Hours             14.5 Hours (6.48x Faster)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Alert Fatigue Reduction        0.0% (Baseline)        51.0% Reduction        45.2% Reduction        76.8% Noise Reduction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Interactive SecOps UI          Tabular / PDF Reports  Raw JSON APIs          Static HTML Tables     React 18 Glassmorphic SPA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"/>
            <a:ext cx="822960" cy="685800"/>
          </a:xfrm>
          <a:prstGeom prst="rect">
            <a:avLst/>
          </a:prstGeom>
        </p:spPr>
      </p:pic>
      <p:pic>
        <p:nvPicPr>
          <p:cNvPr id="3" name="Picture 2" descr="Picture 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37160"/>
            <a:ext cx="82296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88720" y="13716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0E387A"/>
                </a:solidFill>
                <a:latin typeface="Calibri"/>
              </a:defRPr>
            </a:pPr>
            <a:r>
              <a:t>4. Proposed System Architecture (4-Tier Model)</a:t>
            </a:r>
          </a:p>
          <a:p>
            <a:pPr algn="ctr">
              <a:defRPr sz="900">
                <a:solidFill>
                  <a:srgbClr val="475569"/>
                </a:solidFill>
                <a:latin typeface="Calibri"/>
              </a:defRPr>
            </a:pPr>
            <a:r>
              <a:t>CyberShield AI  |  BE Project-I (Odd 2026-27)  |  TCET Mumbai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9144000" cy="27432"/>
          </a:xfrm>
          <a:prstGeom prst="rect">
            <a:avLst/>
          </a:prstGeom>
          <a:solidFill>
            <a:srgbClr val="0E3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9144000" cy="27432"/>
          </a:xfrm>
          <a:prstGeom prst="rect">
            <a:avLst/>
          </a:prstGeom>
          <a:solidFill>
            <a:srgbClr val="D953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Calibri"/>
              </a:defRPr>
            </a:pPr>
            <a:r>
              <a:t>Department of Computer Science and Engineering (Cyber Security) | TCET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35508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E387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388620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E38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252728"/>
            <a:ext cx="3611880" cy="2157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E387A"/>
                </a:solidFill>
                <a:latin typeface="Calibri"/>
              </a:defRPr>
            </a:pPr>
            <a:r>
              <a:t>Tier 1: Telemetry &amp; Ingestion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Nmap 7.94 active host discovery &amp; SYN stealth port scanner.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OpenVAS GVM 22.4 matching against 87,453 NVT signatures.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NIST NVD API v2.0 CVSS v3.1 vector string ingest.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FIRST.org REST API v1.0 EPSS real-time probability streaming.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1143000"/>
            <a:ext cx="388620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252728"/>
            <a:ext cx="3611880" cy="2157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284C7"/>
                </a:solidFill>
                <a:latin typeface="Calibri"/>
              </a:defRPr>
            </a:pPr>
            <a:r>
              <a:t>Tier 2: AI Multi-Factor Risk Engine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Asynchronous Python risk calculator evaluating composite formulas.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SHAP marginal feature lift calculation for explainability.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Attack Path Graph traversal mapping lateral movement vectors.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SQLite3 persistent ledger with Row Factory query optimization.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703320"/>
            <a:ext cx="388620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813048"/>
            <a:ext cx="3611880" cy="2157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7E22CE"/>
                </a:solidFill>
                <a:latin typeface="Calibri"/>
              </a:defRPr>
            </a:pPr>
            <a:r>
              <a:t>Tier 3: FastAPI Async REST Gateway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High-throughput Python ASGI server with CORS middleware.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PyJWT authentication &amp; role-based access control (SecOps, CISO).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Server-Sent Events (SSE) streaming live scan logs (&lt;18.5 ms latency).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1-Click remediation dispatch controller generating shell patches.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60" y="3703320"/>
            <a:ext cx="388620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953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0" y="3813048"/>
            <a:ext cx="3611880" cy="2157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D95307"/>
                </a:solidFill>
                <a:latin typeface="Calibri"/>
              </a:defRPr>
            </a:pPr>
            <a:r>
              <a:t>Tier 4: React 18 Glassmorphic UX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Vite-powered reactive Single Page Application (SPA).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Dynamic SVG Radar Risk profile polygon &amp; Attack Path visualizer.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Autonomous AI Cyber Copilot supporting natural language queries.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Interactive 1-Click Auto-Fix Studio with pre-validated shell scripts.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"/>
            <a:ext cx="822960" cy="685800"/>
          </a:xfrm>
          <a:prstGeom prst="rect">
            <a:avLst/>
          </a:prstGeom>
        </p:spPr>
      </p:pic>
      <p:pic>
        <p:nvPicPr>
          <p:cNvPr id="3" name="Picture 2" descr="Picture 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37160"/>
            <a:ext cx="82296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88720" y="13716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0E387A"/>
                </a:solidFill>
                <a:latin typeface="Calibri"/>
              </a:defRPr>
            </a:pPr>
            <a:r>
              <a:t>5. Mathematical Risk Scoring Formulation</a:t>
            </a:r>
          </a:p>
          <a:p>
            <a:pPr algn="ctr">
              <a:defRPr sz="900">
                <a:solidFill>
                  <a:srgbClr val="475569"/>
                </a:solidFill>
                <a:latin typeface="Calibri"/>
              </a:defRPr>
            </a:pPr>
            <a:r>
              <a:t>CyberShield AI  |  BE Project-I (Odd 2026-27)  |  TCET Mumbai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9144000" cy="27432"/>
          </a:xfrm>
          <a:prstGeom prst="rect">
            <a:avLst/>
          </a:prstGeom>
          <a:solidFill>
            <a:srgbClr val="0E3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9144000" cy="27432"/>
          </a:xfrm>
          <a:prstGeom prst="rect">
            <a:avLst/>
          </a:prstGeom>
          <a:solidFill>
            <a:srgbClr val="D953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Calibri"/>
              </a:defRPr>
            </a:pPr>
            <a:r>
              <a:t>Department of Computer Science and Engineering (Cyber Security) | TCET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35508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E387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8046720" cy="1463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E38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252728"/>
            <a:ext cx="7772400" cy="1243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E387A"/>
                </a:solidFill>
                <a:latin typeface="Calibri"/>
              </a:defRPr>
            </a:pPr>
            <a:r>
              <a:t>📐 Core Mathematical Formulation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Raw Risk = CVSS_Base × W_criticality × ( 1 + α × EPSS ) × W_exposure × M_exploit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Final Risk Score = min( 100.0, ( Raw Risk / 45.0 ) × 100.0 )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45.0: Normalization floor constant mapping extreme composite vectors to a calibrated [0 – 100] scale.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α = 0.80: Empirically calibrated FIRST.org EPSS threat likelihood amplification coefficient.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788920"/>
            <a:ext cx="1874519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E38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898648"/>
            <a:ext cx="1600199" cy="3072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E387A"/>
                </a:solidFill>
                <a:latin typeface="Calibri"/>
              </a:defRPr>
            </a:pPr>
            <a:r>
              <a:t>Asset Criticality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Mission Critical: 1.50x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  (Core DB, Domain Controller)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High Impact: 1.25x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  (VPN Gateway, Web Portal)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Medium Impact: 1.00x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  (Staging API, Dev)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Low Impact: 0.75x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06040" y="2788920"/>
            <a:ext cx="1874519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2898648"/>
            <a:ext cx="1600199" cy="3072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0B981"/>
                </a:solidFill>
                <a:latin typeface="Calibri"/>
              </a:defRPr>
            </a:pPr>
            <a:r>
              <a:t>Exposure Reach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Internet-Facing: 1.40x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  (Public Ingress DMZ)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DMZ Perimeter: 1.20x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Internal Subnet: 1.00x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Air-Gapped: 0.60x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  (Isolated OT/SCADA)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2788920"/>
            <a:ext cx="1874519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2898648"/>
            <a:ext cx="1600199" cy="3072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7E22CE"/>
                </a:solidFill>
                <a:latin typeface="Calibri"/>
              </a:defRPr>
            </a:pPr>
            <a:r>
              <a:t>EPSS Feeds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Score: [0.00 – 1.00]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  (FIRST.org 30-Day Prob.)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Amplified Factor: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  (1 + 0.80 × EPSS)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Escalates weaponized threats non-linearly.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20840" y="2788920"/>
            <a:ext cx="1874519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2898648"/>
            <a:ext cx="1600199" cy="3072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11D48"/>
                </a:solidFill>
                <a:latin typeface="Calibri"/>
              </a:defRPr>
            </a:pPr>
            <a:r>
              <a:t>Exploit Booster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M_exploit = 1.30x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  (Public Metasploit / GitHub PoC confirmed)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M_exploit = 1.00x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  (Theoretical / No PoC)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Immediate 30% surge.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"/>
            <a:ext cx="822960" cy="685800"/>
          </a:xfrm>
          <a:prstGeom prst="rect">
            <a:avLst/>
          </a:prstGeom>
        </p:spPr>
      </p:pic>
      <p:pic>
        <p:nvPicPr>
          <p:cNvPr id="3" name="Picture 2" descr="Picture 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37160"/>
            <a:ext cx="82296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88720" y="13716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0E387A"/>
                </a:solidFill>
                <a:latin typeface="Calibri"/>
              </a:defRPr>
            </a:pPr>
            <a:r>
              <a:t>6. Explainable AI (XAI) &amp; SHAP Attribution Logic</a:t>
            </a:r>
          </a:p>
          <a:p>
            <a:pPr algn="ctr">
              <a:defRPr sz="900">
                <a:solidFill>
                  <a:srgbClr val="475569"/>
                </a:solidFill>
                <a:latin typeface="Calibri"/>
              </a:defRPr>
            </a:pPr>
            <a:r>
              <a:t>CyberShield AI  |  BE Project-I (Odd 2026-27)  |  TCET Mumbai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9144000" cy="27432"/>
          </a:xfrm>
          <a:prstGeom prst="rect">
            <a:avLst/>
          </a:prstGeom>
          <a:solidFill>
            <a:srgbClr val="0E3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9144000" cy="27432"/>
          </a:xfrm>
          <a:prstGeom prst="rect">
            <a:avLst/>
          </a:prstGeom>
          <a:solidFill>
            <a:srgbClr val="D953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Calibri"/>
              </a:defRPr>
            </a:pPr>
            <a:r>
              <a:t>Department of Computer Science and Engineering (Cyber Security) | TCET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35508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E387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388620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E38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252728"/>
            <a:ext cx="361188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E387A"/>
                </a:solidFill>
                <a:latin typeface="Calibri"/>
              </a:defRPr>
            </a:pPr>
            <a:r>
              <a:t>📊 SHAP Additive Feature Lift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Risk Score = phi_0 + phi_1(CVSS) + phi_2(EPSS) + phi_3(W_crit) + phi_4(W_exp) + phi_5(M_exploit)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Feature Contribution Lift Breakdown: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phi_0: Baseline average network risk across corpus (~40–45 pts).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phi_1 (CVSS Flaw Severity): Contributes +35% to +45% of total score.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phi_2 (EPSS Exploit Prob.): Adds +20% to +30% based on live attack likelihood.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phi_3 (Asset Criticality): Imparts +15% to +25% weight for core systems.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phi_4 (Network Exposure): Adds +10% to +15% for public ingress reach.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phi_5 (Weaponized Exploit): Provides +15% immediate priority boost.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✅ Delivers transparent, court-admissible audit narratives for every score.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1143000"/>
            <a:ext cx="388620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252728"/>
            <a:ext cx="361188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284C7"/>
                </a:solidFill>
                <a:latin typeface="Calibri"/>
              </a:defRPr>
            </a:pPr>
            <a:r>
              <a:t>🎯 Dynamic 6-Axis SVG Radar Profile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Maps composite security posture into a real-time 2D Cartesian polygon: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x_i = cx + r * sin( 2*pi * i / 6 )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y_i = cy - r * cos( 2*pi * i / 6 )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Six Vector Dimensions Evaluated: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1. Precision@Top-10 (0.94)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2. Recall@Top-10 (0.91)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3. Critical Asset Focus Coverage (92.5%)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4. Alert Fatigue Reduction (76.8%)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5. MTTR Speedup Factor (6.48x)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6. False Positive Priority Suppression (88.6%)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✅ React frontend renders live animated SVG polygon tracking cyber posture.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"/>
            <a:ext cx="822960" cy="685800"/>
          </a:xfrm>
          <a:prstGeom prst="rect">
            <a:avLst/>
          </a:prstGeom>
        </p:spPr>
      </p:pic>
      <p:pic>
        <p:nvPicPr>
          <p:cNvPr id="3" name="Picture 2" descr="Picture 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37160"/>
            <a:ext cx="82296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88720" y="13716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0E387A"/>
                </a:solidFill>
                <a:latin typeface="Calibri"/>
              </a:defRPr>
            </a:pPr>
            <a:r>
              <a:t>7. Entity Relationship &amp; Data Model (SQLite3 / PostgreSQL)</a:t>
            </a:r>
          </a:p>
          <a:p>
            <a:pPr algn="ctr">
              <a:defRPr sz="900">
                <a:solidFill>
                  <a:srgbClr val="475569"/>
                </a:solidFill>
                <a:latin typeface="Calibri"/>
              </a:defRPr>
            </a:pPr>
            <a:r>
              <a:t>CyberShield AI  |  BE Project-I (Odd 2026-27)  |  TCET Mumbai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9144000" cy="27432"/>
          </a:xfrm>
          <a:prstGeom prst="rect">
            <a:avLst/>
          </a:prstGeom>
          <a:solidFill>
            <a:srgbClr val="0E3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9144000" cy="27432"/>
          </a:xfrm>
          <a:prstGeom prst="rect">
            <a:avLst/>
          </a:prstGeom>
          <a:solidFill>
            <a:srgbClr val="D953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Calibri"/>
              </a:defRPr>
            </a:pPr>
            <a:r>
              <a:t>Department of Computer Science and Engineering (Cyber Security) | TCET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35508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E387A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388620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E38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252728"/>
            <a:ext cx="3611880" cy="2157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E387A"/>
                </a:solidFill>
                <a:latin typeface="Calibri"/>
              </a:defRPr>
            </a:pPr>
            <a:r>
              <a:t>Entity: assets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id: INTEGER PRIMARY KEY AUTOINCREMENT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name: TEXT (e.g. PROD-WEB-SERVER-01)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ip_address: TEXT (10.0.1.50)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asset_type: TEXT (Web Gateway / Nginx)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criticality: TEXT (Mission Critical, High, Med, Low)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exposure: TEXT (Internet Facing, DMZ, Internal, Air-Gapped)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owner: TEXT | location: 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1143000"/>
            <a:ext cx="388620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252728"/>
            <a:ext cx="3611880" cy="2157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284C7"/>
                </a:solidFill>
                <a:latin typeface="Calibri"/>
              </a:defRPr>
            </a:pPr>
            <a:r>
              <a:t>Entity: vulnerabilities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id: INTEGER PRIMARY KEY AUTOINCREMENT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cve_id: TEXT (CVE-2021-44228)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title: TEXT | description: TEXT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cvss_score: REAL (10.0) | cwe_id: TEXT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epss_score: REAL (0.976) | exploit_available: INT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remediation_steps: TEXT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patch_script: TEXT (Executable shell script)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703320"/>
            <a:ext cx="388620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813048"/>
            <a:ext cx="3611880" cy="2157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0B981"/>
                </a:solidFill>
                <a:latin typeface="Calibri"/>
              </a:defRPr>
            </a:pPr>
            <a:r>
              <a:t>Relationship: asset_vulnerabilities (1:N)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id: INTEGER PRIMARY KEY AUTOINCREMENT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asset_id: INTEGER (FK -&gt; assets.id)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vulnerability_id: INTEGER (FK -&gt; vulnerabilities.id)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status: TEXT ('OPEN' | 'RESOLVED')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detected_at: TIMESTAMP DEFAULT CURRENT_TIMESTAMP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Maps enterprise findings to network topology.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60" y="3703320"/>
            <a:ext cx="388620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0" y="3813048"/>
            <a:ext cx="3611880" cy="2157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7E22CE"/>
                </a:solidFill>
                <a:latin typeface="Calibri"/>
              </a:defRPr>
            </a:pPr>
            <a:r>
              <a:t>Audit &amp; Telemetry Schema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telemetry_logs: Scan ID, tool stdout, timestamp, SHA-256 hash.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remediation_ledger: Finding ID, script executed, operator JWT, status.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Row Factory query optimization achieving sub-12ms response times.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Ready for seamless migration to enterprise PostgreSQL read-replicas.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"/>
            <a:ext cx="822960" cy="685800"/>
          </a:xfrm>
          <a:prstGeom prst="rect">
            <a:avLst/>
          </a:prstGeom>
        </p:spPr>
      </p:pic>
      <p:pic>
        <p:nvPicPr>
          <p:cNvPr id="3" name="Picture 2" descr="Picture 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37160"/>
            <a:ext cx="82296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88720" y="13716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0E387A"/>
                </a:solidFill>
                <a:latin typeface="Calibri"/>
              </a:defRPr>
            </a:pPr>
            <a:r>
              <a:t>8. Module 1 — Telemetry &amp; Scanning Pipeline</a:t>
            </a:r>
          </a:p>
          <a:p>
            <a:pPr algn="ctr">
              <a:defRPr sz="900">
                <a:solidFill>
                  <a:srgbClr val="475569"/>
                </a:solidFill>
                <a:latin typeface="Calibri"/>
              </a:defRPr>
            </a:pPr>
            <a:r>
              <a:t>CyberShield AI  |  BE Project-I (Odd 2026-27)  |  TCET Mumbai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9144000" cy="27432"/>
          </a:xfrm>
          <a:prstGeom prst="rect">
            <a:avLst/>
          </a:prstGeom>
          <a:solidFill>
            <a:srgbClr val="0E3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9144000" cy="27432"/>
          </a:xfrm>
          <a:prstGeom prst="rect">
            <a:avLst/>
          </a:prstGeom>
          <a:solidFill>
            <a:srgbClr val="D953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Calibri"/>
              </a:defRPr>
            </a:pPr>
            <a:r>
              <a:t>Department of Computer Science and Engineering (Cyber Security) | TCET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35508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E387A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388620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E38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252728"/>
            <a:ext cx="361188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E387A"/>
                </a:solidFill>
                <a:latin typeface="Calibri"/>
              </a:defRPr>
            </a:pPr>
            <a:r>
              <a:t>⚡ 6-Stage Scanner Pipeline Workflow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1. Stage 1 (Host Discovery): Nmap 7.94 ARP / ICMP echo sweeps sweep CIDR subnets to locate active enterprise nodes.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2. Stage 2 (SYN Stealth Scan): High-speed raw packet scan (-sS) mapping open TCP/UDP ports and service banners.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3. Stage 3 (NSE Script Audit): Nmap Scripting Engine running default, vuln, and auth checks.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4. Stage 4 (OpenVAS NVT Match): OpenVAS GVM 22.4 correlating service banners against 87,453 vulnerability signatures.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5. Stage 5 (NVD &amp; EPSS Fusion): Enriching CVEs via NIST API v2.0 and FIRST.org 30-day exploit probabilities.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6. Stage 6 (AI Prioritization): CyberShield AI calculating multi-factor risk, SHAP attributions, and 1-click fixes.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1143000"/>
            <a:ext cx="388620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953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252728"/>
            <a:ext cx="361188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D95307"/>
                </a:solidFill>
                <a:latin typeface="Calibri"/>
              </a:defRPr>
            </a:pPr>
            <a:r>
              <a:t>🔧 Telemetry Architecture Features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Asynchronous Non-Blocking Execution: Python asyncio spawns scanner workers without blocking REST handlers.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Server-Sent Events (SSE) Gateway: Streams execution terminal logs directly to the React console in real time.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Realistic Log Simulation: Generates ~2,000 lines of authentic scanner logs per full network audit.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Cryptographic Ledger: Hashes scanner stdout with SHA-256 for tamper-evident compliance audit trails.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API Latency: Deep scan completes and enriches 10 nodes in under 4.12 seconds.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"/>
            <a:ext cx="822960" cy="685800"/>
          </a:xfrm>
          <a:prstGeom prst="rect">
            <a:avLst/>
          </a:prstGeom>
        </p:spPr>
      </p:pic>
      <p:pic>
        <p:nvPicPr>
          <p:cNvPr id="3" name="Picture 2" descr="Picture 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37160"/>
            <a:ext cx="82296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88720" y="13716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0E387A"/>
                </a:solidFill>
                <a:latin typeface="Calibri"/>
              </a:defRPr>
            </a:pPr>
            <a:r>
              <a:t>9. Module 2 — Multi-Factor AI Risk &amp; Threat Ingestion</a:t>
            </a:r>
          </a:p>
          <a:p>
            <a:pPr algn="ctr">
              <a:defRPr sz="900">
                <a:solidFill>
                  <a:srgbClr val="475569"/>
                </a:solidFill>
                <a:latin typeface="Calibri"/>
              </a:defRPr>
            </a:pPr>
            <a:r>
              <a:t>CyberShield AI  |  BE Project-I (Odd 2026-27)  |  TCET Mumbai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9144000" cy="27432"/>
          </a:xfrm>
          <a:prstGeom prst="rect">
            <a:avLst/>
          </a:prstGeom>
          <a:solidFill>
            <a:srgbClr val="0E3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9144000" cy="27432"/>
          </a:xfrm>
          <a:prstGeom prst="rect">
            <a:avLst/>
          </a:prstGeom>
          <a:solidFill>
            <a:srgbClr val="D953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Calibri"/>
              </a:defRPr>
            </a:pPr>
            <a:r>
              <a:t>Department of Computer Science and Engineering (Cyber Security) | TCET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35508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E387A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388620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E38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252728"/>
            <a:ext cx="361188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E387A"/>
                </a:solidFill>
                <a:latin typeface="Calibri"/>
              </a:defRPr>
            </a:pPr>
            <a:r>
              <a:t>🧠 Dynamic Risk Scoring Engine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Ingests asset criticality metadata from SQLite topology ledger.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Fuses FIRST.org EPSS v3 threat likelihood to filter out inert CVEs.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Evaluates perimeter reachability based on network ingress zones.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Applies confirmed weaponized PoC multiplier (1.30x) for Metasploit/GitHub exploits.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Severity Classification Tiers: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🔴 CRITICAL (90.0 – 100.0): Urgent zero-day exploit; emergency auto-fix.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🟠 HIGH (70.0 – 89.9): Exploitable production flaw; 24-hr remediation.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🟡 MEDIUM (40.0 – 69.9): Standard internal issue; scheduled maintenance.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🟢 LOW (0.0 – 39.9): Minimal exploit potential or air-gapped node.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1143000"/>
            <a:ext cx="388620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252728"/>
            <a:ext cx="361188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0B981"/>
                </a:solidFill>
                <a:latin typeface="Calibri"/>
              </a:defRPr>
            </a:pPr>
            <a:r>
              <a:t>🌐 EPSS Threat Intelligence Integration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Problem: CVSS 10.0 alone does not mean an attacker is currently exploiting it.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Solution: FIRST.org EPSS predicts real-world exploitation in next 30 days based on dark web chatter &amp; honeypot telemetry.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Real Enterprise Examples Evaluated: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Log4Shell (CVE-2021-44228): EPSS = 0.976 (97.6% exploit probability).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Confluence Admin Bypass (CVE-2023-22515): EPSS = 0.974.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Citrix Bleed (CVE-2023-4966): EPSS = 0.961.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FortiOS SSL-VPN (CVE-2024-21762): EPSS = 0.912.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XZ Utils Backdoor (CVE-2024-3094): EPSS = 0.944.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✅ Eliminates false alarms for unweaponized CVEs.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"/>
            <a:ext cx="822960" cy="685800"/>
          </a:xfrm>
          <a:prstGeom prst="rect">
            <a:avLst/>
          </a:prstGeom>
        </p:spPr>
      </p:pic>
      <p:pic>
        <p:nvPicPr>
          <p:cNvPr id="3" name="Picture 2" descr="Picture 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37160"/>
            <a:ext cx="82296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88720" y="13716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0E387A"/>
                </a:solidFill>
                <a:latin typeface="Calibri"/>
              </a:defRPr>
            </a:pPr>
            <a:r>
              <a:t>10. Module 3 — AI Cyber Copilot &amp; 1-Click Auto-Fix Studio</a:t>
            </a:r>
          </a:p>
          <a:p>
            <a:pPr algn="ctr">
              <a:defRPr sz="900">
                <a:solidFill>
                  <a:srgbClr val="475569"/>
                </a:solidFill>
                <a:latin typeface="Calibri"/>
              </a:defRPr>
            </a:pPr>
            <a:r>
              <a:t>CyberShield AI  |  BE Project-I (Odd 2026-27)  |  TCET Mumbai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9144000" cy="27432"/>
          </a:xfrm>
          <a:prstGeom prst="rect">
            <a:avLst/>
          </a:prstGeom>
          <a:solidFill>
            <a:srgbClr val="0E3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9144000" cy="27432"/>
          </a:xfrm>
          <a:prstGeom prst="rect">
            <a:avLst/>
          </a:prstGeom>
          <a:solidFill>
            <a:srgbClr val="D953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Calibri"/>
              </a:defRPr>
            </a:pPr>
            <a:r>
              <a:t>Department of Computer Science and Engineering (Cyber Security) | TCET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35508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E387A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388620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E38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252728"/>
            <a:ext cx="361188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E387A"/>
                </a:solidFill>
                <a:latin typeface="Calibri"/>
              </a:defRPr>
            </a:pPr>
            <a:r>
              <a:t>🤖 Autonomous AI Cyber Copilot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Natural Language Threat Assistant: Queries security posture in English &amp; Hinglish.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Example Queries Supported: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  - 'Show me all critical findings on internet-facing servers'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  - 'What is the fastest attack path to our database vault?'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  - 'Draft a containment script for Log4Shell on Nginx'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Attack Path Graph Reasoning: Traverses network hops to identify lateral escalation paths from edge DMZ to crown-jewel assets.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Zero Hallucination: Grounded in SQLite asset &amp; CVE database records.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1143000"/>
            <a:ext cx="388620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953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252728"/>
            <a:ext cx="361188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D95307"/>
                </a:solidFill>
                <a:latin typeface="Calibri"/>
              </a:defRPr>
            </a:pPr>
            <a:r>
              <a:t>🛠️ 1-Click Auto-Fix Studio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Closes the gap between vulnerability discovery and remediation.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Synthesizes verified, syntax-checked containment scripts: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  - Bash Scripts: Immediate configuration &amp; package updates.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  - PowerShell: Stop-Service &amp; GPO registry modifications.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  - Iptables / Firewall: Edge ingress drop rules.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  - Dockerfile: Base image rebuilds &amp; pinned dependencies.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  - Kubernetes: NetworkPolicy micro-segmentation manifests.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1-Click Dispatch: Operator clicks 'Apply Patch' to commit fix to database and update asset risk in &lt;250 ms.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"/>
            <a:ext cx="822960" cy="685800"/>
          </a:xfrm>
          <a:prstGeom prst="rect">
            <a:avLst/>
          </a:prstGeom>
        </p:spPr>
      </p:pic>
      <p:pic>
        <p:nvPicPr>
          <p:cNvPr id="3" name="Picture 2" descr="Picture 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37160"/>
            <a:ext cx="82296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88720" y="13716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0E387A"/>
                </a:solidFill>
                <a:latin typeface="Calibri"/>
              </a:defRPr>
            </a:pPr>
            <a:r>
              <a:t>11. Implementation — FastAPI REST Gateway &amp; JWT Auth</a:t>
            </a:r>
          </a:p>
          <a:p>
            <a:pPr algn="ctr">
              <a:defRPr sz="900">
                <a:solidFill>
                  <a:srgbClr val="475569"/>
                </a:solidFill>
                <a:latin typeface="Calibri"/>
              </a:defRPr>
            </a:pPr>
            <a:r>
              <a:t>CyberShield AI  |  BE Project-I (Odd 2026-27)  |  TCET Mumbai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9144000" cy="27432"/>
          </a:xfrm>
          <a:prstGeom prst="rect">
            <a:avLst/>
          </a:prstGeom>
          <a:solidFill>
            <a:srgbClr val="0E3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9144000" cy="27432"/>
          </a:xfrm>
          <a:prstGeom prst="rect">
            <a:avLst/>
          </a:prstGeom>
          <a:solidFill>
            <a:srgbClr val="D953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Calibri"/>
              </a:defRPr>
            </a:pPr>
            <a:r>
              <a:t>Department of Computer Science and Engineering (Cyber Security) | TCET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35508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E387A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388620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E38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252728"/>
            <a:ext cx="361188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E387A"/>
                </a:solidFill>
                <a:latin typeface="Calibri"/>
              </a:defRPr>
            </a:pPr>
            <a:r>
              <a:t>⚙️ Backend Architecture &amp; Tech Stack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Framework: Python 3.13 + FastAPI ASGI Asynchronous Server.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Persistence: SQLite3 with Row Factory dictionaries (cybershield.db).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Schemas: Pydantic v2 data models for rigorous request validation.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Authentication: PyJWT generating HMAC-SHA256 bearer tokens.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CORS Middleware: Configured for seamless communication with React frontend on port 5173.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Real-Time Gateway: Server-Sent Events (SSE) streaming /api/scan/trigger log buffers.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1143000"/>
            <a:ext cx="388620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252728"/>
            <a:ext cx="361188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7E22CE"/>
                </a:solidFill>
                <a:latin typeface="Calibri"/>
              </a:defRPr>
            </a:pPr>
            <a:r>
              <a:t>⏱️ Endpoint Latency &amp; Benchmark Verification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Endpoint Operation              Mean Latency    Std. Dev.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----------------------------------------------------------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Health Check (/api/health)       4.2 ms         ±0.8 ms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Asset Retrieval (/api/assets)    12.1 ms        ±1.4 ms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AI Scoring (/api/prioritize)     18.5 ms        ±2.1 ms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Executive Report (/api/report)   22.4 ms        ±2.8 ms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Copilot Query (/api/ai/copilot)  145 ms         ±12 ms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Deep Scanner (/api/scan/trigger) 4.12 s         ±0.45 s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✅ Sub-20ms core REST response times enable instant UI rendering.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"/>
            <a:ext cx="822960" cy="685800"/>
          </a:xfrm>
          <a:prstGeom prst="rect">
            <a:avLst/>
          </a:prstGeom>
        </p:spPr>
      </p:pic>
      <p:pic>
        <p:nvPicPr>
          <p:cNvPr id="3" name="Picture 2" descr="Picture 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37160"/>
            <a:ext cx="82296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88720" y="13716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0E387A"/>
                </a:solidFill>
                <a:latin typeface="Calibri"/>
              </a:defRPr>
            </a:pPr>
            <a:r>
              <a:t>12. Implementation — React 18 Glassmorphic Dashboard</a:t>
            </a:r>
          </a:p>
          <a:p>
            <a:pPr algn="ctr">
              <a:defRPr sz="900">
                <a:solidFill>
                  <a:srgbClr val="475569"/>
                </a:solidFill>
                <a:latin typeface="Calibri"/>
              </a:defRPr>
            </a:pPr>
            <a:r>
              <a:t>CyberShield AI  |  BE Project-I (Odd 2026-27)  |  TCET Mumbai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9144000" cy="27432"/>
          </a:xfrm>
          <a:prstGeom prst="rect">
            <a:avLst/>
          </a:prstGeom>
          <a:solidFill>
            <a:srgbClr val="0E3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9144000" cy="27432"/>
          </a:xfrm>
          <a:prstGeom prst="rect">
            <a:avLst/>
          </a:prstGeom>
          <a:solidFill>
            <a:srgbClr val="D953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Calibri"/>
              </a:defRPr>
            </a:pPr>
            <a:r>
              <a:t>Department of Computer Science and Engineering (Cyber Security) | TCET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35508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E387A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388620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E38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252728"/>
            <a:ext cx="361188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E387A"/>
                </a:solidFill>
                <a:latin typeface="Calibri"/>
              </a:defRPr>
            </a:pPr>
            <a:r>
              <a:t>💻 Frontend UI/UX Design System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Framework: React 18 + Vite build tooling for ultra-fast HMR.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Styling: Vanilla CSS with custom glassmorphism design tokens (backdrop-filter: blur(12px), semi-transparent surfaces).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Dark SOC Theme: Deep navy background (#0A0F1D) with neon cyan, cobalt, and amber accents.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Icons &amp; Visuals: Lucide React icons + interactive SVG charts.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State Management: React Context Hooks managing live auth tokens and streaming scanner buffers.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Floating AI Copilot Drawer: Persistent slide-out assistant.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1143000"/>
            <a:ext cx="388620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252728"/>
            <a:ext cx="361188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284C7"/>
                </a:solidFill>
                <a:latin typeface="Calibri"/>
              </a:defRPr>
            </a:pPr>
            <a:r>
              <a:t>📊 Dynamic SVG Radar Pentagon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Plots organizational security posture along 6 normalized axes.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Computes dynamic Cartesian coordinates on client side: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  - x_i = cx + r * sin(2*pi * i / 6)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  - y_i = cy - r * cos(2*pi * i / 6)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6 Key Metrics Plotted: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1. Precision@Top-10 (94%)       4. Alert Fatigue Cut (76.8%)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2. Recall@Top-10 (91%)          5. MTTR Speedup (6.48x)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3. Critical Focus (92.5%)       6. FPR Suppression (88.6%)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✅ Visualizes instant improvement over legacy baseline.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"/>
            <a:ext cx="822960" cy="685800"/>
          </a:xfrm>
          <a:prstGeom prst="rect">
            <a:avLst/>
          </a:prstGeom>
        </p:spPr>
      </p:pic>
      <p:pic>
        <p:nvPicPr>
          <p:cNvPr id="3" name="Picture 2" descr="Picture 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37160"/>
            <a:ext cx="82296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88720" y="13716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0E387A"/>
                </a:solidFill>
                <a:latin typeface="Calibri"/>
              </a:defRPr>
            </a:pPr>
            <a:r>
              <a:t>13. Case Study — 3 Real-World Enterprise Attack Scenarios</a:t>
            </a:r>
          </a:p>
          <a:p>
            <a:pPr algn="ctr">
              <a:defRPr sz="900">
                <a:solidFill>
                  <a:srgbClr val="475569"/>
                </a:solidFill>
                <a:latin typeface="Calibri"/>
              </a:defRPr>
            </a:pPr>
            <a:r>
              <a:t>CyberShield AI  |  BE Project-I (Odd 2026-27)  |  TCET Mumbai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9144000" cy="27432"/>
          </a:xfrm>
          <a:prstGeom prst="rect">
            <a:avLst/>
          </a:prstGeom>
          <a:solidFill>
            <a:srgbClr val="0E3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9144000" cy="27432"/>
          </a:xfrm>
          <a:prstGeom prst="rect">
            <a:avLst/>
          </a:prstGeom>
          <a:solidFill>
            <a:srgbClr val="D953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Calibri"/>
              </a:defRPr>
            </a:pPr>
            <a:r>
              <a:t>Department of Computer Science and Engineering (Cyber Security) | TCET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35508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E387A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256032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252728"/>
            <a:ext cx="228600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11D48"/>
                </a:solidFill>
                <a:latin typeface="Calibri"/>
              </a:defRPr>
            </a:pPr>
            <a:r>
              <a:t>🔴 Scenario A: Web Gateway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Asset: PROD-WEB-SERVER-01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Role: Public Nginx / Ubuntu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CVE: Log4Shell (CVE-2021-44228)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CVSS: 10.0 | EPSS: 0.976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Context: Mission Critical (1.50x), Internet-Facing (1.40x)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Weaponized PoC: Confirmed (1.30x)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------------------------------------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🎯 Risk Score: 100.0 / 100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🏷️ Status: CRITICAL-URGENT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🛡️ Fix: 1-Click WAF rule &amp; log4j JVM patch.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143000"/>
            <a:ext cx="256032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953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252728"/>
            <a:ext cx="228600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D95307"/>
                </a:solidFill>
                <a:latin typeface="Calibri"/>
              </a:defRPr>
            </a:pPr>
            <a:r>
              <a:t>🟠 Scenario B: Domain Controller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Asset: FIN-WIN-DC-01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Role: Active Directory DC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CVE: PrintNightmare (CVE-2021-34527)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CVSS: 8.8 | EPSS: 0.881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Context: Mission Critical (1.50x), Internal Subnet (1.00x)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Weaponized PoC: Metasploit available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------------------------------------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🎯 Risk Score: 97.8 / 100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🏷️ Status: CRITICAL-URGENT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🛡️ Fix: Stop-Service Spooler PowerShell script.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1143000"/>
            <a:ext cx="256032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1252728"/>
            <a:ext cx="228600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7E22CE"/>
                </a:solidFill>
                <a:latin typeface="Calibri"/>
              </a:defRPr>
            </a:pPr>
            <a:r>
              <a:t>🟣 Scenario C: Perimeter Firewall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Asset: INFRA-NET-FW-01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Role: FortiOS Perimeter Gateway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CVE: FortiOS SSL-VPN (CVE-2024-21762)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CVSS: 9.6 | EPSS: 0.912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Context: Mission Critical (1.50x), DMZ Perimeter (1.20x)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Weaponized PoC: Active zero-day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------------------------------------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🎯 Risk Score: 98.4 / 100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🏷️ Status: CRITICAL-URGENT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🛡️ Fix: Disable SSL-VPN CLI &amp; upgrade firmware.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"/>
            <a:ext cx="822960" cy="685800"/>
          </a:xfrm>
          <a:prstGeom prst="rect">
            <a:avLst/>
          </a:prstGeom>
        </p:spPr>
      </p:pic>
      <p:pic>
        <p:nvPicPr>
          <p:cNvPr id="3" name="Picture 2" descr="Picture 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37160"/>
            <a:ext cx="82296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88720" y="13716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0E387A"/>
                </a:solidFill>
                <a:latin typeface="Calibri"/>
              </a:defRPr>
            </a:pPr>
            <a:r>
              <a:t>14. Empirical Benchmarks &amp; Performance Analysis</a:t>
            </a:r>
          </a:p>
          <a:p>
            <a:pPr algn="ctr">
              <a:defRPr sz="900">
                <a:solidFill>
                  <a:srgbClr val="475569"/>
                </a:solidFill>
                <a:latin typeface="Calibri"/>
              </a:defRPr>
            </a:pPr>
            <a:r>
              <a:t>CyberShield AI  |  BE Project-I (Odd 2026-27)  |  TCET Mumbai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9144000" cy="27432"/>
          </a:xfrm>
          <a:prstGeom prst="rect">
            <a:avLst/>
          </a:prstGeom>
          <a:solidFill>
            <a:srgbClr val="0E3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9144000" cy="27432"/>
          </a:xfrm>
          <a:prstGeom prst="rect">
            <a:avLst/>
          </a:prstGeom>
          <a:solidFill>
            <a:srgbClr val="D953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Calibri"/>
              </a:defRPr>
            </a:pPr>
            <a:r>
              <a:t>Department of Computer Science and Engineering (Cyber Security) | TCET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35508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E387A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2560320" cy="1463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252728"/>
            <a:ext cx="2286000" cy="1243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0B981"/>
                </a:solidFill>
                <a:latin typeface="Calibri"/>
              </a:defRPr>
            </a:pPr>
            <a:r>
              <a:t>⚡ 6.48x MTTR Speedup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Baseline CVSS: 94.0 Hours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CyberShield AI: 14.5 Hours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Net Reduction: 84.6% faster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143000"/>
            <a:ext cx="2560320" cy="1463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E38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252728"/>
            <a:ext cx="2286000" cy="1243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E387A"/>
                </a:solidFill>
                <a:latin typeface="Calibri"/>
              </a:defRPr>
            </a:pPr>
            <a:r>
              <a:t>🔇 76.8% Alert Fatigue Cut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Noise Index: 78.4 -&gt; 18.2 / 100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False Priority: 42.1% -&gt; 4.8%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Net Drop: 88.6% fewer false alarms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1143000"/>
            <a:ext cx="2560320" cy="1463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953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1252728"/>
            <a:ext cx="2286000" cy="1243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D95307"/>
                </a:solidFill>
                <a:latin typeface="Calibri"/>
              </a:defRPr>
            </a:pPr>
            <a:r>
              <a:t>🎯 3.03x Precision Gain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Precision@Top-10: 0.31 -&gt; 0.94 (94%)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Recall@Top-10: 0.28 -&gt; 0.91 (91%)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Critical Asset Coverage: 92.5%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88920"/>
            <a:ext cx="8046720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E38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898648"/>
            <a:ext cx="7772400" cy="3072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E387A"/>
                </a:solidFill>
                <a:latin typeface="Calibri"/>
              </a:defRPr>
            </a:pPr>
            <a:r>
              <a:t>📊 Detailed Benchmark Comparison Across 50 Nodes &amp; 200 CVE Scenarios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Metric                       Legacy CVSS-Only     Static SOAR     FIRST EPSS-Only     CyberShield AI (Ours)     Net Gain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-------------------------------------------------------------------------------------------------------------------------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Mean Time to Remediate (MTTR)     94.0 Hours          68.2 Hours       42.0 Hours          14.5 Hours            6.48x Faster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Alert Fatigue Noise Index (0-100)  78.4                56.1             38.4                18.2                  76.8% Reduction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False Positive Priority Rate       42.1%               28.5%            18.6%               4.8%                  88.6% Drop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Precision @ Top-10 Findings        0.31 (31%)          0.54 (54%)       0.72 (72%)          0.94 (94%)            3.03x Higher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Recall @ Top-10 Findings           0.28 (28%)          0.49 (49%)       0.68 (68%)          0.91 (91%)            3.25x Higher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High-Impact Focus Coverage         24.0%               48.0%            72.5%               92.5%                 3.85x Coverage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Explainability (XAI)               None (Static)       None             Low (Black-box)     SHAP Feature Lift     Full Transparency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"/>
            <a:ext cx="822960" cy="685800"/>
          </a:xfrm>
          <a:prstGeom prst="rect">
            <a:avLst/>
          </a:prstGeom>
        </p:spPr>
      </p:pic>
      <p:pic>
        <p:nvPicPr>
          <p:cNvPr id="3" name="Picture 2" descr="Picture 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37160"/>
            <a:ext cx="82296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88720" y="13716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0E387A"/>
                </a:solidFill>
                <a:latin typeface="Calibri"/>
              </a:defRPr>
            </a:pPr>
            <a:r>
              <a:t>15. Future Research Scope &amp; Enterprise Scalability</a:t>
            </a:r>
          </a:p>
          <a:p>
            <a:pPr algn="ctr">
              <a:defRPr sz="900">
                <a:solidFill>
                  <a:srgbClr val="475569"/>
                </a:solidFill>
                <a:latin typeface="Calibri"/>
              </a:defRPr>
            </a:pPr>
            <a:r>
              <a:t>CyberShield AI  |  BE Project-I (Odd 2026-27)  |  TCET Mumbai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9144000" cy="27432"/>
          </a:xfrm>
          <a:prstGeom prst="rect">
            <a:avLst/>
          </a:prstGeom>
          <a:solidFill>
            <a:srgbClr val="0E3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9144000" cy="27432"/>
          </a:xfrm>
          <a:prstGeom prst="rect">
            <a:avLst/>
          </a:prstGeom>
          <a:solidFill>
            <a:srgbClr val="D953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Calibri"/>
              </a:defRPr>
            </a:pPr>
            <a:r>
              <a:t>Department of Computer Science and Engineering (Cyber Security) | TCET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35508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E387A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388620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E38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252728"/>
            <a:ext cx="3611880" cy="2157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E387A"/>
                </a:solidFill>
                <a:latin typeface="Calibri"/>
              </a:defRPr>
            </a:pPr>
            <a:r>
              <a:t>1. Local Fine-Tuned LLMs (Air-Gapped)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Deploy local Ollama / LLaMA-3-8B instances fine-tuned on CISA advisories.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Enables 100% offline SecOps Copilot reasoning without external API calls.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Eliminates data leakage concerns for defense &amp; critical infrastructure.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1143000"/>
            <a:ext cx="388620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252728"/>
            <a:ext cx="3611880" cy="2157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0B981"/>
                </a:solidFill>
                <a:latin typeface="Calibri"/>
              </a:defRPr>
            </a:pPr>
            <a:r>
              <a:t>2. Container Runtime eBPF Shielding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Direct integration with Falco and eBPF kernel probes.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Automatically enforces container quarantine upon Critical finding detection.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Intercepts malicious syscalls in &lt;5 ms before payload execution.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703320"/>
            <a:ext cx="388620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953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813048"/>
            <a:ext cx="3611880" cy="2157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D95307"/>
                </a:solidFill>
                <a:latin typeface="Calibri"/>
              </a:defRPr>
            </a:pPr>
            <a:r>
              <a:t>3. Automated CI/CD DevSecOps Gating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Embed CyberShield AI risk threshold gates into GitHub Actions and GitLab CI.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Blocks pull requests and Docker builds introducing weaponized CVEs.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Shifts vulnerability remediation left into the developer workflow.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60" y="3703320"/>
            <a:ext cx="388620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0" y="3813048"/>
            <a:ext cx="3611880" cy="2157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7E22CE"/>
                </a:solidFill>
                <a:latin typeface="Calibri"/>
              </a:defRPr>
            </a:pPr>
            <a:r>
              <a:t>4. Enterprise Distributed Scalability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Kubernetes Horizontal Pod Autoscaling (HPA) for scanner workers.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PostgreSQL read-replicas handling 10,000+ assets with zero lock contention.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Apache Kafka event streaming bus for high-throughput EPSS telemetry ingestion.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"/>
            <a:ext cx="822960" cy="685800"/>
          </a:xfrm>
          <a:prstGeom prst="rect">
            <a:avLst/>
          </a:prstGeom>
        </p:spPr>
      </p:pic>
      <p:pic>
        <p:nvPicPr>
          <p:cNvPr id="3" name="Picture 2" descr="Picture 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37160"/>
            <a:ext cx="82296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88720" y="13716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0E387A"/>
                </a:solidFill>
                <a:latin typeface="Calibri"/>
              </a:defRPr>
            </a:pPr>
            <a:r>
              <a:t>16. Conclusion &amp; Key Takeaways</a:t>
            </a:r>
          </a:p>
          <a:p>
            <a:pPr algn="ctr">
              <a:defRPr sz="900">
                <a:solidFill>
                  <a:srgbClr val="475569"/>
                </a:solidFill>
                <a:latin typeface="Calibri"/>
              </a:defRPr>
            </a:pPr>
            <a:r>
              <a:t>CyberShield AI  |  BE Project-I (Odd 2026-27)  |  TCET Mumbai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9144000" cy="27432"/>
          </a:xfrm>
          <a:prstGeom prst="rect">
            <a:avLst/>
          </a:prstGeom>
          <a:solidFill>
            <a:srgbClr val="0E3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9144000" cy="27432"/>
          </a:xfrm>
          <a:prstGeom prst="rect">
            <a:avLst/>
          </a:prstGeom>
          <a:solidFill>
            <a:srgbClr val="D953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Calibri"/>
              </a:defRPr>
            </a:pPr>
            <a:r>
              <a:t>Department of Computer Science and Engineering (Cyber Security) | TCET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35508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E387A"/>
                </a:solidFill>
                <a:latin typeface="Calibri"/>
              </a:defRPr>
            </a:pPr>
            <a: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388620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E38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252728"/>
            <a:ext cx="361188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E387A"/>
                </a:solidFill>
                <a:latin typeface="Calibri"/>
              </a:defRPr>
            </a:pPr>
            <a:r>
              <a:t>🏆 Key Accomplishments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Successfully engineered CyberShield AI, transitioning vulnerability management from passive checklists into an active threat containment ecosystem.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Unifies CVSS v3.1, FIRST.org EPSS v3, Asset Criticality, and Exposure Reachability into a normalized [0–100] index.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Empirically validated across 50 nodes &amp; 200 CVEs: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  - 6.48x MTTR Speedup (94.0 hrs -&gt; 14.5 hrs)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  - 76.8% Alert Fatigue Noise Reduction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  - 88.6% Drop in False Positive Priorities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  - 94.0% Precision@Top-10 and 91.0% Recall@Top-10.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1143000"/>
            <a:ext cx="388620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252728"/>
            <a:ext cx="361188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0B981"/>
                </a:solidFill>
                <a:latin typeface="Calibri"/>
              </a:defRPr>
            </a:pPr>
            <a:r>
              <a:t>✨ Paradigm Shift &amp; Industrial Value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Explainable AI (SHAP) provides transparent, court-admissible audit narratives for CISO compliance.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1-Click Auto-Fix Studio automates shell, firewall, and container containment within minutes.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High-performance FastAPI backend + React 18 Glassmorphic frontend delivers sub-18.5ms evaluation speeds.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🔗 Project Repository: https://github.com/PratyushPandey31/Be-.git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🔗 Live Application: http://localhost:5173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🔗 Interactive API Docs: http://localhost:8000/docs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"/>
            <a:ext cx="822960" cy="685800"/>
          </a:xfrm>
          <a:prstGeom prst="rect">
            <a:avLst/>
          </a:prstGeom>
        </p:spPr>
      </p:pic>
      <p:pic>
        <p:nvPicPr>
          <p:cNvPr id="3" name="Picture 2" descr="Picture 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37160"/>
            <a:ext cx="82296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88720" y="13716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0E387A"/>
                </a:solidFill>
                <a:latin typeface="Calibri"/>
              </a:defRPr>
            </a:pPr>
            <a:r>
              <a:t>Thank You</a:t>
            </a:r>
          </a:p>
          <a:p>
            <a:pPr algn="ctr">
              <a:defRPr sz="900">
                <a:solidFill>
                  <a:srgbClr val="475569"/>
                </a:solidFill>
                <a:latin typeface="Calibri"/>
              </a:defRPr>
            </a:pPr>
            <a:r>
              <a:t>CyberShield AI  |  BE Project-I (Odd 2026-27)  |  TCET Mumbai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9144000" cy="27432"/>
          </a:xfrm>
          <a:prstGeom prst="rect">
            <a:avLst/>
          </a:prstGeom>
          <a:solidFill>
            <a:srgbClr val="0E3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9144000" cy="27432"/>
          </a:xfrm>
          <a:prstGeom prst="rect">
            <a:avLst/>
          </a:prstGeom>
          <a:solidFill>
            <a:srgbClr val="D953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Calibri"/>
              </a:defRPr>
            </a:pPr>
            <a:r>
              <a:t>Department of Computer Science and Engineering (Cyber Security) | TCET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35508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E387A"/>
                </a:solidFill>
                <a:latin typeface="Calibri"/>
              </a:defRPr>
            </a:pPr>
            <a: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804672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E38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252728"/>
            <a:ext cx="777240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E387A"/>
                </a:solidFill>
                <a:latin typeface="Calibri"/>
              </a:defRPr>
            </a:pPr>
            <a:r>
              <a:t>🎓 Acknowledgments &amp; Gratitude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We express our heartfelt gratitude to: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Project Guide: Prof. Pramod Patil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  (Assistant Professor - Department of Computer Science &amp; Engineering)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  For his constant technical mentorship, encouragement, and invaluable feedback throughout this BE project.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Dr. Vidyadhari Singh (Head of Department, CS&amp;E - Cyber Security) and all faculty members of Thakur College of Engineering and Technology (TCET), Mumbai, for providing computing laboratory facilities and academic guidance.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• NIST National Vulnerability Database (NVD) and FIRST.org for providing open threat intelligence APIs.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Calibri"/>
              </a:defRPr>
            </a:pPr>
            <a: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