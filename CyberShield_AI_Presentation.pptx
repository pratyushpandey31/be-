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F0FF"/>
                </a:solidFill>
                <a:latin typeface="Calibri"/>
              </a:defRPr>
            </a:pPr>
            <a:r>
              <a:t>CyberShield AI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An Intelligent Vulnerability Assessment &amp; Autonomous Risk Prioritization Framework Using Explainable AI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Multi-Factor Scoring (CVSS + EPSS + Asset Criticality + Exposure) | SHAP XAI | 1-Click Auto-Remediation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566160"/>
            <a:ext cx="4389120" cy="201168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3703320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F0FF"/>
                </a:solidFill>
                <a:latin typeface="Calibri"/>
              </a:defRPr>
            </a:pPr>
            <a:r>
              <a:t>Pratyush Pandey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Lead Researcher &amp; Developer (Roll 34)</a:t>
            </a:r>
          </a:p>
          <a:p>
            <a:pPr algn="ctr"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TCET, Mumbai</a:t>
            </a:r>
          </a:p>
          <a:p>
            <a:pPr algn="ctr">
              <a:spcBef>
                <a:spcPts val="300"/>
              </a:spcBef>
              <a:defRPr sz="950">
                <a:solidFill>
                  <a:srgbClr val="00F0FF"/>
                </a:solidFill>
                <a:latin typeface="Calibri"/>
              </a:defRPr>
            </a:pPr>
            <a:r>
              <a:t>1032230135@tcetmumbai.in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566160"/>
            <a:ext cx="4389120" cy="2011680"/>
          </a:xfrm>
          <a:prstGeom prst="roundRect">
            <a:avLst/>
          </a:prstGeom>
          <a:solidFill>
            <a:srgbClr val="1720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3703320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Prof. Pramod Patil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Project Guide &amp; Asst. Prof.-CSE</a:t>
            </a:r>
          </a:p>
          <a:p>
            <a:pPr algn="ctr"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TCET, Mumbai</a:t>
            </a:r>
          </a:p>
          <a:p>
            <a:pPr algn="ctr">
              <a:spcBef>
                <a:spcPts val="300"/>
              </a:spcBef>
              <a:defRPr sz="950">
                <a:solidFill>
                  <a:srgbClr val="00F0FF"/>
                </a:solidFill>
                <a:latin typeface="Calibri"/>
              </a:defRPr>
            </a:pPr>
            <a:r>
              <a:t>pramodpatil@tcetmumbai.in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Department of Computer Science and Engineering (Cyber Security) | Thakur College of Engineering and Technology,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Introduction &amp; Enterprise Security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🌊 The CVE Avalanche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25,000+ new CVEs published annually by NIST NVD.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Over 20% of all published vulnerabilities are labeled 'Critical' (CVSS &gt;= 8.0).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Cloud digitization, microservices &amp; IoT expand modern attack surfaces 10x.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Traditional triage mechanisms cannot cope with the sheer volume of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⚠️ Three Core Systemic Failures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1. CVSS Inflation: Scores denote theoretical severity, not active weaponization in the wild.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2. Context Blindness: Scanners treat isolated lab machines identically to public payment APIs.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3. Remediation Latency: Manual shell scripting and patch approvals consume 94+ hours (days to weeks).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🛡️ CyberShield AI Solution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Multi-Factor Real-Time Risk Prioritization (0–100 Normalized Scale).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FIRST.org EPSS v3 Exploit Likelihood Fusion.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Asset Criticality &amp; Perimeter Network Reachability Weighting.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Explainable AI (SHAP) Attribution + 1-Click Automated Patch Scripts.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Challenges in Modern Vulnerability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1. Severe Alert Fatigue &amp; Operator Burnout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SOC analysts are overwhelmed with 10,000+ unranked alerts weekly.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78.4/100 Alert Noise Index under legacy single-factor CVSS auditing.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Critical zero-day exploits get buried underneath low-risk false alarms.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Result: 42.1% False Positive Priority rate in conventional SOC queues.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2. Static Compliance vs. Active Threat Posture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Security compliance treated as weekly/monthly scheduled audit checklist.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Zero-day exploit windows remain exposed for up to 7–14 days post-audit.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Lack of real-time telemetry streaming from live network infrastructure.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Static scanners offer zero proactive defense emulation or proof-of-intercept.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3. Black-Box AI &amp; Lack of Triage Transparency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Proprietary SOAR algorithms produce arbitrary scores without justification.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CISO auditors and incident response teams cannot verify scoring rationale.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Zero court-admissible or compliance-verifiable reasoning trail.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Need for Explainable AI (XAI) feature attribution in security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4. Scripting Bottlenecks &amp; Remediation Delay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Finding a vulnerability is automated; fixing it remains heavily manual.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Drafting iptables rules, Docker patch layers, and Ansible playbooks takes hours.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Mean Time to Remediate (MTTR) exceeds 94.0 hours in enterprise settings.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CyberShield AI introduces autonomous 1-click verified containment.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Literature Survey &amp; Technological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📜 Legacy CVSS v3.1 (NIST)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Focus: Intrinsic technical flaw severity (Attack Vector, Privileges, Impact).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Limitation: Completely static; ignores asset location and live threat activity.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Result: Over 20% labeled Critical; severe alert inundation in SOC teams.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Reference: NIST Special Pub 800-115 [2].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🤖 FIRST EPSS v3 Model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Focus: Machine-learned probability (0.0–1.0) of 30-day active weaponization.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Advantage: Leverages threat intelligence feeds and dark web chatter.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Limitation: Lacks asset business criticality &amp; network ingress zone context.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Reference: FIRST.org User Guide [1].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✨ CyberShield AI (Ours)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Unifies CVSS + EPSS v3 + Asset Criticality + Network Reachability + PoCs.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Decomposes scoring via SHAP (Shapley Additive exPlanations) for full XAI.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Delivers 6.48x MTTR speedup, 76.8% alert fatigue cut, and 1-click Auto-Fix.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Live Reactive FastAPI + React 18 Glassmorphic Single Page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Theoretical Background &amp; Multi-Factor Risk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1645920"/>
          </a:xfrm>
          <a:prstGeom prst="roundRect">
            <a:avLst/>
          </a:prstGeom>
          <a:solidFill>
            <a:srgbClr val="1E2945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📐 The CyberShield AI Risk Index Formulation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Raw Risk = CVSS_Base * W_criticality * (1 + alpha * EPSS) * W_exposure * M_exploit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Final Risk Score = min( 100.0, ( Raw Risk / 45.0 ) * 100.0 )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45.0 = Normalization floor constant mapping extreme composite vectors to a calibrated [0 – 100] index.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alpha = 0.80 = Empirically calibrated FIRST.org EPSS threat likelihood amplification coefficient.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468880" cy="29260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79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🏢 Asset Criticality (W_crit)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Mission Critical: 1.50x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(Core DB, Domain Controller)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High Impact: 1.25x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(Web Portal, VPN Gateway)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Medium Impact: 1.00x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Low Impact: 0.75x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474720"/>
            <a:ext cx="2468880" cy="29260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611879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🌐 Exposure Zone (W_exp)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Internet Facing: 1.40x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(Public Ingress DMZ)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DMZ Perimeter: 1.20x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Internal Subnet: 1.00x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Air-Gapped / Isolated: 0.60x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(Industrial OT / SCADA)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2468880" cy="29260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611879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⚡ Threat Feeds (EPSS)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EPSS Score: [0.00 – 1.00]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(FIRST.org 30-Day Prob.)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Amplified: (1 + 0.8·EPSS)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Scales risk non-linearly for actively weaponized CVEs.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474720"/>
            <a:ext cx="2468880" cy="29260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611879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💥 Weaponized Multiplier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M_exploit = 1.30x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(Public Metasploit / GitHub PoC confirmed)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M_exploit = 1.00x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(Theoretical / No PoC)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Immediate 30% priority surge.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MODEL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Explainable AI (XAI) &amp; SHAP Feature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📊 SHAP Additive Feature Lift Decomposition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Risk Score = phi_0 + phi_1(CVSS) + phi_2(EPSS) + phi_3(W_crit) + phi_4(W_exp) + phi_5(M_exploit)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phi_0: Baseline average network risk across the asset corpus (~40–45 pts).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phi_1 (CVSS Severity): Contributes +35% to +45% of total score lift.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phi_2 (EPSS Probability): Adds +20% to +30% based on live exploitation likelihood.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phi_3 (Asset Criticality): Imparts +15% to +25% weight for core infrastructure.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phi_4 (Network Exposure): Adds +10% to +15% based on external ingress reach.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phi_5 (Weaponized PoC): Provides immediate +15% priority boost.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✅ Benefit: Full interpretability for SOC analysts, CISOs &amp; regulatory audits.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🎯 Dynamic 6-Axis SVG Radar Risk Pentagon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Maps composite security posture into a real-time 2D Cartesian polygon: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x_i = cx + r * sin( 2*pi * i / 6 )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y_i = cy - r * cos( 2*pi * i / 6 )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Six Vector Dimensions Evaluated: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1. Precision@Top-10 (0.94)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2. Recall@Top-10 (0.91)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3. Critical Asset Focus (92.5%)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4. Alert Fatigue Reduction (76.8%)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5. MTTR Speedup Factor (6.48x)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6. False Positive Rate Control (4.8%)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✅ Renders live animated SVG polygon tracking organizational cyber health.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Proposed 4-Tier Operational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Tier 1: Telemetry &amp; Ingestion Engine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Nmap 7.94 active host discovery &amp; SYN stealth port scanner.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OpenVAS GVM 22.4 matching against 87,453 NVT signatures.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NIST NVD API v2.0 CVSS v3.1 vector string ingest.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FIRST.org REST API v1.0 EPSS real-time probability streaming.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Tier 2: AI Multi-Factor Scoring Engine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Asynchronous Python risk calculator evaluating composite formulas.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SHAP marginal feature lift calculation for explainability.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Attack Path Graph traversal mapping lateral movement vectors.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SQLite3 persistent ledger with Row Factory query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Tier 3: FastAPI Async REST API Gateway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High-throughput Python ASGI server with CORS middleware.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PyJWT authentication &amp; role-based access control (SecOps, CISO).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Server-Sent Events (SSE) streaming live scan logs (&lt;18.5 ms latency).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1-Click remediation dispatch controller generating shell patches.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Tier 4: React 18 Glassmorphic Dashboard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Vite-powered reactive Single Page Application (SPA).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Dynamic SVG Radar Risk profile polygon &amp; Attack Path visualizer.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Autonomous AI Cyber Copilot supporting natural language queries.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Interactive 1-Click Auto-Fix Studio with pre-validated shell scripts.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PIPELINE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6-Stage Automated Scanner &amp; Telemetry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23317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⚡ Stage 1: Host Discovery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Nmap 7.94 ARP / ICMP echo sweep identifying active enterprise nodes across CIDR ranges.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23317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⚡ Stage 2: SYN Stealth Scan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High-speed raw packet scan (-sS) mapping open TCP/UDP ports and service banners.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23317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⚡ Stage 3: NSE Script Audit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Nmap Scripting Engine executing targeted scripts (vuln, auth, default, banner).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23317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⚡ Stage 4: OpenVAS Match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OpenVAS GVM 22.4 matching service signatures against 87,453 Network Vulnerability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114800"/>
            <a:ext cx="3383280" cy="23317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6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⚡ Stage 5: NVD &amp; EPSS Fusion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Enriching findings via NIST NVD API v2.0 and FIRST.org 30-day exploitation probabilities.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3383280" cy="23317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5196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⚡ Stage 6: AI Prioritization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CyberShield AI computing multi-factor risk, SHAP attributions &amp; generating 1-click fixes.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Case Study: 3 Real-World Enterprise Attack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🔴 Scenario A: Web Gateway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Target: PROD-WEB-SERVER-01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CVE: Log4Shell (CVE-2021-44228)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CVSS: 10.0 | EPSS: 0.976 (97.6%)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Context: Mission Critical, Internet-Facing (W_exp = 1.40x)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Weaponized PoC: Confirmed (1.30x)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------------------------------------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🎯 Risk Score: 100.0 / 100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🏷️ Status: CRITICAL-URGENT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🛡️ Action: 1-Click WAF rule &amp; JVM log4j2.formatMsgNoLookups=true 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🟠 Scenario B: Domain Controller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Target: FIN-WIN-DC-01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CVE: PrintNightmare (CVE-2021-34527)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CVSS: 8.8 | EPSS: 0.881 (88.1%)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Context: Mission Critical (W_crit = 1.50x), Internal Subnet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Weaponized PoC: Metasploit available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------------------------------------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🎯 Risk Score: 97.8 / 100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🏷️ Status: CRITICAL-URGENT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🛡️ Action: Stop-Service Spooler PowerShell script &amp; PointAndPrint GPO fix.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🟣 Scenario C: Perimeter Firewall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Target: INFRA-NET-FW-01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CVE: FortiOS SSL-VPN RCE (CVE-2024-21762)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CVSS: 9.6 | EPSS: 0.912 (91.2%)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Context: Perimeter Edge, DMZ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Weaponized PoC: Active zero-day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------------------------------------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🎯 Risk Score: 98.4 / 100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🏷️ Status: CRITICAL-URGENT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🛡️ Action: Emergency FortiOS CLI disable SSL-VPN &amp; firmware 7.4.3 upgrade.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Results &amp; Comparative Performance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91840" cy="16459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⚡ 6.48x MTTR Speedup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Baseline CVSS MTTR: 94.0 Hours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CyberShield AI MTTR: 14.5 Hours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Net Reduction: 84.6% faster fix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291840" cy="16459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🔇 76.8% Less Alert Fatigue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Alert Noise Index: 78.4 -&gt; 18.2 / 100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False Priority Rate: 42.1% -&gt; 4.8%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Net Drop: 88.6% fewer false alarms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291840" cy="16459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🎯 3.03x Precision Gain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Precision@Top-10: 0.31 -&gt; 0.94 (94%)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Recall@Top-10: 0.28 -&gt; 0.91 (91%)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Critical Asset Coverage: 92.5%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10698480" cy="2971800"/>
          </a:xfrm>
          <a:prstGeom prst="roundRect">
            <a:avLst/>
          </a:prstGeom>
          <a:solidFill>
            <a:srgbClr val="1E2945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33271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📊 Detailed Benchmark Comparison Matrix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Metric                       Legacy CVSS-Only     Static SOAR     FIRST EPSS-Only     CyberShield AI (Ours)     Net Improvement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-------------------------------------------------------------------------------------------------------------------------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Mean Time to Remediate (MTTR)     94.0 Hours          68.2 Hours       42.0 Hours          14.5 Hours            6.48x Faster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Alert Fatigue Noise Index (0-100)  78.4                56.1             38.4                18.2                  76.8% Reduction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False Positive Priority Rate       42.1%               28.5%            18.6%               4.8%                  88.6% Drop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Precision @ Top-10 Findings        0.31 (31%)          0.54 (54%)       0.72 (72%)          0.94 (94%)            3.03x Higher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Recall @ Top-10 Findings           0.28 (28%)          0.49 (49%)       0.68 (68%)          0.91 (91%)            3.25x Higher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Explainability (XAI)               None (Static)       None (Rule-based) Low (Black-box)     SHAP Feature Lift     Full Transparency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Remediation Execution              Manual Playbooks    Manual Approvals Manual Scripting    1-Click Auto-Fix      Autonomous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INDUSTRIAL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Current Trends &amp; Enterprise Security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🔒 Shift to Zero Trust (ZTA)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Static perimeter defenses are obsolete in cloud-native microservice clusters.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CyberShield AI continuously audits reachability zones and asset access.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Integrates with Zero-Trust Network Access (ZTNA) policy controllers.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Enforces least-privilege containment via automated network isolation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🤖 Agentic AI &amp; LLM Copilots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Rise of Agentic AI workflows in Security Operations Centers (SOCs).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Natural language querying (English + Hinglish) for threat hunting.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Real-time attack graph traversal mapping lateral escalation vectors.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AI Copilot synthesizes remediation scripts tailored to OS/Kernel targets.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2918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📜 Compliance &amp; Audit Standards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Meets CISA Known Exploited Vulnerabilities (KEV) mandate requirements.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Aligns with NIST SP 800-115, ISO/IEC 27037, and CIS Controls v8.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Transparent SHAP logs provide court-admissible audit trails for forensics.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Essential for FedRAMP, DISA STIG, and financial regulatory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Future Research Scopes &amp; Enterprise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1. Local Fine-Tuned LLMs (Air-Gapped)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Deploying local Ollama / LLaMA-3-8B instances fine-tuned on CISA advisories.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Enables 100% offline SecOps Copilot reasoning without external API calls.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Solves data privacy concerns for defense &amp; critical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2. Container Runtime eBPF Shielding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Integration with Falco and eBPF (Extended Berkeley Packet Filter) kernel hooks.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Automatically enforces container quarantine upon Critical-Urgent detection.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Intercepts malicious syscalls in &lt;5 ms before payload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3. Automated CI/CD DevSecOps Gating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Embedding CyberShield AI risk threshold gates into GitHub Actions and GitLab CI.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Blocks pull requests and Docker build commits introducing weaponized CVEs.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Shifts vulnerability remediation left into the developer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2402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7548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4. Enterprise Distributed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Kubernetes Horizontal Pod Autoscaling (HPA) for scanner workers.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PostgreSQL read-replicas handling 10,000+ assets with zero lock contention.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Apache Kafka event streaming bus for high-throughput EPSS telemetry ingestion.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SUMMARY &amp; GRATITUDE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Acknowledgment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🎓 Acknowledgment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We express our deepest gratitude to: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Project Guide: Prof. Pramod Patil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(Assistant Professor - Department of CSE)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For constant technical guidance, mentorship, and invaluable feedback throughout this research project.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Department of Computer Science and Engineering (Cyber Security), Thakur College of Engineering and Technology (TCET), Mumbai, for providing state-of-the-art laboratory infrastructure and computing resources.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NIST NVD and FIRST.org for providing open threat intelligence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475488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Calibri"/>
              </a:defRPr>
            </a:pPr>
            <a:r>
              <a:t>🏆 Conclusion &amp; Key Takeaways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CyberShield AI solves the fundamental flaws of legacy static CVSS triage.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Combines CVSS + EPSS v3 + Asset Criticality + Network Exposure + PoCs into a normalized [0–100] index.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Empirically validated: 6.48x MTTR speedup, 76.8% alert fatigue cut, and 94% Precision@Top-10.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Explainable AI (SHAP) + 1-Click Auto-Fix Studio empowers SOC teams to transition from passive alerts to autonomous containment.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✨ Repository: https://github.com/PratyushPandey31/Be-.git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✨ Live Demo: http://localhost:5173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